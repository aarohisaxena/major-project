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033" autoAdjust="0"/>
    <p:restoredTop sz="94660"/>
  </p:normalViewPr>
  <p:slideViewPr>
    <p:cSldViewPr snapToGrid="0">
      <p:cViewPr>
        <p:scale>
          <a:sx n="69" d="100"/>
          <a:sy n="69" d="100"/>
        </p:scale>
        <p:origin x="21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3B454D-0CA5-CAC2-1D89-F6F9897DC9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00FE72F2-A472-7271-F8E9-F105D6AC5BF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E30979-637C-46D1-AB17-AA0B0CD55B3B}" type="datetimeFigureOut">
              <a:rPr lang="en-IN" smtClean="0"/>
              <a:t>01-05-2025</a:t>
            </a:fld>
            <a:endParaRPr lang="en-IN"/>
          </a:p>
        </p:txBody>
      </p:sp>
      <p:sp>
        <p:nvSpPr>
          <p:cNvPr id="4" name="Footer Placeholder 3">
            <a:extLst>
              <a:ext uri="{FF2B5EF4-FFF2-40B4-BE49-F238E27FC236}">
                <a16:creationId xmlns:a16="http://schemas.microsoft.com/office/drawing/2014/main" id="{A122F03E-CC1E-0285-D28A-CC49B6F82E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0C5187D-36A1-30F5-4796-C238192D3A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8FA315-A931-49DF-8C3A-933D727FE80B}" type="slidenum">
              <a:rPr lang="en-IN" smtClean="0"/>
              <a:t>‹#›</a:t>
            </a:fld>
            <a:endParaRPr lang="en-IN"/>
          </a:p>
        </p:txBody>
      </p:sp>
    </p:spTree>
    <p:extLst>
      <p:ext uri="{BB962C8B-B14F-4D97-AF65-F5344CB8AC3E}">
        <p14:creationId xmlns:p14="http://schemas.microsoft.com/office/powerpoint/2010/main" val="390651152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3B6DE8-89EB-4910-BE6E-A1D1FF0DA414}" type="datetimeFigureOut">
              <a:rPr lang="en-IN" smtClean="0"/>
              <a:t>01-05-2025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AF56BE-111F-4976-9862-9E8F85A671DB}" type="slidenum">
              <a:rPr lang="en-IN" smtClean="0"/>
              <a:t>‹#›</a:t>
            </a:fld>
            <a:endParaRPr lang="en-IN"/>
          </a:p>
        </p:txBody>
      </p:sp>
    </p:spTree>
    <p:extLst>
      <p:ext uri="{BB962C8B-B14F-4D97-AF65-F5344CB8AC3E}">
        <p14:creationId xmlns:p14="http://schemas.microsoft.com/office/powerpoint/2010/main" val="71507937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F3A92-86D8-F270-C40D-65E6BE7C81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4BA8210-DED0-254D-9359-A63CAD76BB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68FFB2B-42CF-BBCC-CD66-F2E6CA693D12}"/>
              </a:ext>
            </a:extLst>
          </p:cNvPr>
          <p:cNvSpPr>
            <a:spLocks noGrp="1"/>
          </p:cNvSpPr>
          <p:nvPr>
            <p:ph type="dt" sz="half" idx="10"/>
          </p:nvPr>
        </p:nvSpPr>
        <p:spPr/>
        <p:txBody>
          <a:bodyPr/>
          <a:lstStyle/>
          <a:p>
            <a:fld id="{9197B89E-C4FC-4962-8C7D-4E711490C7C9}" type="datetime1">
              <a:rPr lang="en-IN" smtClean="0"/>
              <a:t>01-05-2025</a:t>
            </a:fld>
            <a:endParaRPr lang="en-IN"/>
          </a:p>
        </p:txBody>
      </p:sp>
      <p:sp>
        <p:nvSpPr>
          <p:cNvPr id="5" name="Footer Placeholder 4">
            <a:extLst>
              <a:ext uri="{FF2B5EF4-FFF2-40B4-BE49-F238E27FC236}">
                <a16:creationId xmlns:a16="http://schemas.microsoft.com/office/drawing/2014/main" id="{C17CBCD3-08F9-8C7F-1F01-819E9DA85E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9E3EEE-2045-09C2-EBB3-CCEE218485E0}"/>
              </a:ext>
            </a:extLst>
          </p:cNvPr>
          <p:cNvSpPr>
            <a:spLocks noGrp="1"/>
          </p:cNvSpPr>
          <p:nvPr>
            <p:ph type="sldNum" sz="quarter" idx="12"/>
          </p:nvPr>
        </p:nvSpPr>
        <p:spPr/>
        <p:txBody>
          <a:bodyPr/>
          <a:lstStyle/>
          <a:p>
            <a:fld id="{3F87B148-DC85-4EDB-ACA3-100B1D618A48}" type="slidenum">
              <a:rPr lang="en-IN" smtClean="0"/>
              <a:t>‹#›</a:t>
            </a:fld>
            <a:endParaRPr lang="en-IN"/>
          </a:p>
        </p:txBody>
      </p:sp>
    </p:spTree>
    <p:extLst>
      <p:ext uri="{BB962C8B-B14F-4D97-AF65-F5344CB8AC3E}">
        <p14:creationId xmlns:p14="http://schemas.microsoft.com/office/powerpoint/2010/main" val="3943808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2F397-2D92-EB8B-B186-2A6AC7236C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3992F4-728D-29F1-3E6A-01E08508B4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9033B8-0209-4B30-2C6F-179BDB5EA371}"/>
              </a:ext>
            </a:extLst>
          </p:cNvPr>
          <p:cNvSpPr>
            <a:spLocks noGrp="1"/>
          </p:cNvSpPr>
          <p:nvPr>
            <p:ph type="dt" sz="half" idx="10"/>
          </p:nvPr>
        </p:nvSpPr>
        <p:spPr/>
        <p:txBody>
          <a:bodyPr/>
          <a:lstStyle/>
          <a:p>
            <a:fld id="{915F283A-9D5D-4537-B815-AF64378FA468}" type="datetime1">
              <a:rPr lang="en-IN" smtClean="0"/>
              <a:t>01-05-2025</a:t>
            </a:fld>
            <a:endParaRPr lang="en-IN"/>
          </a:p>
        </p:txBody>
      </p:sp>
      <p:sp>
        <p:nvSpPr>
          <p:cNvPr id="5" name="Footer Placeholder 4">
            <a:extLst>
              <a:ext uri="{FF2B5EF4-FFF2-40B4-BE49-F238E27FC236}">
                <a16:creationId xmlns:a16="http://schemas.microsoft.com/office/drawing/2014/main" id="{E8B3AEA0-CAC8-CBC3-8B78-8E15E747A0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D57642-71D4-ACC2-1F3E-9CD2EB3C85C9}"/>
              </a:ext>
            </a:extLst>
          </p:cNvPr>
          <p:cNvSpPr>
            <a:spLocks noGrp="1"/>
          </p:cNvSpPr>
          <p:nvPr>
            <p:ph type="sldNum" sz="quarter" idx="12"/>
          </p:nvPr>
        </p:nvSpPr>
        <p:spPr/>
        <p:txBody>
          <a:bodyPr/>
          <a:lstStyle/>
          <a:p>
            <a:fld id="{3F87B148-DC85-4EDB-ACA3-100B1D618A48}" type="slidenum">
              <a:rPr lang="en-IN" smtClean="0"/>
              <a:t>‹#›</a:t>
            </a:fld>
            <a:endParaRPr lang="en-IN"/>
          </a:p>
        </p:txBody>
      </p:sp>
    </p:spTree>
    <p:extLst>
      <p:ext uri="{BB962C8B-B14F-4D97-AF65-F5344CB8AC3E}">
        <p14:creationId xmlns:p14="http://schemas.microsoft.com/office/powerpoint/2010/main" val="156576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1B908-6DF8-1FCB-67DB-D4C942CEAF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9510CA8-9B2B-C19F-B910-2492826F7D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A16AB4-BD58-87EF-4EAA-D937616E72AB}"/>
              </a:ext>
            </a:extLst>
          </p:cNvPr>
          <p:cNvSpPr>
            <a:spLocks noGrp="1"/>
          </p:cNvSpPr>
          <p:nvPr>
            <p:ph type="dt" sz="half" idx="10"/>
          </p:nvPr>
        </p:nvSpPr>
        <p:spPr/>
        <p:txBody>
          <a:bodyPr/>
          <a:lstStyle/>
          <a:p>
            <a:fld id="{A96D05FE-0CB0-410D-AF53-584151D10253}" type="datetime1">
              <a:rPr lang="en-IN" smtClean="0"/>
              <a:t>01-05-2025</a:t>
            </a:fld>
            <a:endParaRPr lang="en-IN"/>
          </a:p>
        </p:txBody>
      </p:sp>
      <p:sp>
        <p:nvSpPr>
          <p:cNvPr id="5" name="Footer Placeholder 4">
            <a:extLst>
              <a:ext uri="{FF2B5EF4-FFF2-40B4-BE49-F238E27FC236}">
                <a16:creationId xmlns:a16="http://schemas.microsoft.com/office/drawing/2014/main" id="{1ECC2809-E745-F7C2-6A01-BC8F6B70E4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BDE8E4-6D8B-78E8-2F14-2BB6B916E96F}"/>
              </a:ext>
            </a:extLst>
          </p:cNvPr>
          <p:cNvSpPr>
            <a:spLocks noGrp="1"/>
          </p:cNvSpPr>
          <p:nvPr>
            <p:ph type="sldNum" sz="quarter" idx="12"/>
          </p:nvPr>
        </p:nvSpPr>
        <p:spPr/>
        <p:txBody>
          <a:bodyPr/>
          <a:lstStyle/>
          <a:p>
            <a:fld id="{3F87B148-DC85-4EDB-ACA3-100B1D618A48}" type="slidenum">
              <a:rPr lang="en-IN" smtClean="0"/>
              <a:t>‹#›</a:t>
            </a:fld>
            <a:endParaRPr lang="en-IN"/>
          </a:p>
        </p:txBody>
      </p:sp>
    </p:spTree>
    <p:extLst>
      <p:ext uri="{BB962C8B-B14F-4D97-AF65-F5344CB8AC3E}">
        <p14:creationId xmlns:p14="http://schemas.microsoft.com/office/powerpoint/2010/main" val="1138006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6D1C9-1CC3-7FB3-A237-5B66A8D005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1BA8A5-7D8E-6E43-B5A9-4FF7A871A5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AE17264-E4E6-D981-052C-0DEBCE666C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ADA7FD2-9EB8-87E3-4536-329064C6216F}"/>
              </a:ext>
            </a:extLst>
          </p:cNvPr>
          <p:cNvSpPr>
            <a:spLocks noGrp="1"/>
          </p:cNvSpPr>
          <p:nvPr>
            <p:ph type="dt" sz="half" idx="10"/>
          </p:nvPr>
        </p:nvSpPr>
        <p:spPr/>
        <p:txBody>
          <a:bodyPr/>
          <a:lstStyle/>
          <a:p>
            <a:fld id="{CDDB1DB7-C60C-44B7-8306-275E907BB3D8}" type="datetime1">
              <a:rPr lang="en-IN" smtClean="0"/>
              <a:t>01-05-2025</a:t>
            </a:fld>
            <a:endParaRPr lang="en-IN"/>
          </a:p>
        </p:txBody>
      </p:sp>
      <p:sp>
        <p:nvSpPr>
          <p:cNvPr id="6" name="Footer Placeholder 5">
            <a:extLst>
              <a:ext uri="{FF2B5EF4-FFF2-40B4-BE49-F238E27FC236}">
                <a16:creationId xmlns:a16="http://schemas.microsoft.com/office/drawing/2014/main" id="{8D4B1988-64D6-18A0-C06B-6906365A8A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463ACB-1015-9737-CB84-6CD79AF8A640}"/>
              </a:ext>
            </a:extLst>
          </p:cNvPr>
          <p:cNvSpPr>
            <a:spLocks noGrp="1"/>
          </p:cNvSpPr>
          <p:nvPr>
            <p:ph type="sldNum" sz="quarter" idx="12"/>
          </p:nvPr>
        </p:nvSpPr>
        <p:spPr/>
        <p:txBody>
          <a:bodyPr/>
          <a:lstStyle/>
          <a:p>
            <a:fld id="{3F87B148-DC85-4EDB-ACA3-100B1D618A48}" type="slidenum">
              <a:rPr lang="en-IN" smtClean="0"/>
              <a:t>‹#›</a:t>
            </a:fld>
            <a:endParaRPr lang="en-IN"/>
          </a:p>
        </p:txBody>
      </p:sp>
    </p:spTree>
    <p:extLst>
      <p:ext uri="{BB962C8B-B14F-4D97-AF65-F5344CB8AC3E}">
        <p14:creationId xmlns:p14="http://schemas.microsoft.com/office/powerpoint/2010/main" val="530384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35957-610B-1FA8-33A1-21AA1F08F4E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A74B68-FBC8-3B10-7A46-9BC1DAAE65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7AA7A9-404A-3973-5D77-68ABACAAB2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406A909-3E94-8941-8704-1F1A6CBB5E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DA87C4-9EB4-7EA7-FDCF-2E6959AB91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BE0EC0D-6631-72AD-D41E-8F4E4E117C12}"/>
              </a:ext>
            </a:extLst>
          </p:cNvPr>
          <p:cNvSpPr>
            <a:spLocks noGrp="1"/>
          </p:cNvSpPr>
          <p:nvPr>
            <p:ph type="dt" sz="half" idx="10"/>
          </p:nvPr>
        </p:nvSpPr>
        <p:spPr/>
        <p:txBody>
          <a:bodyPr/>
          <a:lstStyle/>
          <a:p>
            <a:fld id="{D4C4BEDE-78FA-44EC-ACEE-45CDC4B94D92}" type="datetime1">
              <a:rPr lang="en-IN" smtClean="0"/>
              <a:t>01-05-2025</a:t>
            </a:fld>
            <a:endParaRPr lang="en-IN"/>
          </a:p>
        </p:txBody>
      </p:sp>
      <p:sp>
        <p:nvSpPr>
          <p:cNvPr id="8" name="Footer Placeholder 7">
            <a:extLst>
              <a:ext uri="{FF2B5EF4-FFF2-40B4-BE49-F238E27FC236}">
                <a16:creationId xmlns:a16="http://schemas.microsoft.com/office/drawing/2014/main" id="{FAE0D36D-F4A6-803E-B571-B8C086DEB2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3BC6852-B339-61A5-289C-8D7BB16136C5}"/>
              </a:ext>
            </a:extLst>
          </p:cNvPr>
          <p:cNvSpPr>
            <a:spLocks noGrp="1"/>
          </p:cNvSpPr>
          <p:nvPr>
            <p:ph type="sldNum" sz="quarter" idx="12"/>
          </p:nvPr>
        </p:nvSpPr>
        <p:spPr/>
        <p:txBody>
          <a:bodyPr/>
          <a:lstStyle/>
          <a:p>
            <a:fld id="{3F87B148-DC85-4EDB-ACA3-100B1D618A48}" type="slidenum">
              <a:rPr lang="en-IN" smtClean="0"/>
              <a:t>‹#›</a:t>
            </a:fld>
            <a:endParaRPr lang="en-IN"/>
          </a:p>
        </p:txBody>
      </p:sp>
    </p:spTree>
    <p:extLst>
      <p:ext uri="{BB962C8B-B14F-4D97-AF65-F5344CB8AC3E}">
        <p14:creationId xmlns:p14="http://schemas.microsoft.com/office/powerpoint/2010/main" val="827641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C899-F595-98B5-34AB-445F8E42F10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69F2222-716C-BAA8-1750-0C0559796984}"/>
              </a:ext>
            </a:extLst>
          </p:cNvPr>
          <p:cNvSpPr>
            <a:spLocks noGrp="1"/>
          </p:cNvSpPr>
          <p:nvPr>
            <p:ph type="dt" sz="half" idx="10"/>
          </p:nvPr>
        </p:nvSpPr>
        <p:spPr/>
        <p:txBody>
          <a:bodyPr/>
          <a:lstStyle/>
          <a:p>
            <a:fld id="{164E9ED7-8AD4-444F-A6BE-DFC9773F3B72}" type="datetime1">
              <a:rPr lang="en-IN" smtClean="0"/>
              <a:t>01-05-2025</a:t>
            </a:fld>
            <a:endParaRPr lang="en-IN"/>
          </a:p>
        </p:txBody>
      </p:sp>
      <p:sp>
        <p:nvSpPr>
          <p:cNvPr id="4" name="Footer Placeholder 3">
            <a:extLst>
              <a:ext uri="{FF2B5EF4-FFF2-40B4-BE49-F238E27FC236}">
                <a16:creationId xmlns:a16="http://schemas.microsoft.com/office/drawing/2014/main" id="{38192E02-5B08-5EDA-33BB-3C303DEBBD9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5C514D-1B04-26B1-F22A-042E1DB9E944}"/>
              </a:ext>
            </a:extLst>
          </p:cNvPr>
          <p:cNvSpPr>
            <a:spLocks noGrp="1"/>
          </p:cNvSpPr>
          <p:nvPr>
            <p:ph type="sldNum" sz="quarter" idx="12"/>
          </p:nvPr>
        </p:nvSpPr>
        <p:spPr/>
        <p:txBody>
          <a:bodyPr/>
          <a:lstStyle/>
          <a:p>
            <a:fld id="{3F87B148-DC85-4EDB-ACA3-100B1D618A48}" type="slidenum">
              <a:rPr lang="en-IN" smtClean="0"/>
              <a:t>‹#›</a:t>
            </a:fld>
            <a:endParaRPr lang="en-IN"/>
          </a:p>
        </p:txBody>
      </p:sp>
    </p:spTree>
    <p:extLst>
      <p:ext uri="{BB962C8B-B14F-4D97-AF65-F5344CB8AC3E}">
        <p14:creationId xmlns:p14="http://schemas.microsoft.com/office/powerpoint/2010/main" val="3634216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C404C8-2BAE-9849-5F70-9E400CA2EA1B}"/>
              </a:ext>
            </a:extLst>
          </p:cNvPr>
          <p:cNvSpPr>
            <a:spLocks noGrp="1"/>
          </p:cNvSpPr>
          <p:nvPr>
            <p:ph type="dt" sz="half" idx="10"/>
          </p:nvPr>
        </p:nvSpPr>
        <p:spPr/>
        <p:txBody>
          <a:bodyPr/>
          <a:lstStyle/>
          <a:p>
            <a:fld id="{A63268DF-36F2-43B7-9991-04A2C7FF4DF7}" type="datetime1">
              <a:rPr lang="en-IN" smtClean="0"/>
              <a:t>01-05-2025</a:t>
            </a:fld>
            <a:endParaRPr lang="en-IN"/>
          </a:p>
        </p:txBody>
      </p:sp>
      <p:sp>
        <p:nvSpPr>
          <p:cNvPr id="3" name="Footer Placeholder 2">
            <a:extLst>
              <a:ext uri="{FF2B5EF4-FFF2-40B4-BE49-F238E27FC236}">
                <a16:creationId xmlns:a16="http://schemas.microsoft.com/office/drawing/2014/main" id="{42588F1E-D2C7-ED7B-8A5E-8E2AE2CA28D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AD2471C-B9E9-F0D6-6B57-65A4011512D3}"/>
              </a:ext>
            </a:extLst>
          </p:cNvPr>
          <p:cNvSpPr>
            <a:spLocks noGrp="1"/>
          </p:cNvSpPr>
          <p:nvPr>
            <p:ph type="sldNum" sz="quarter" idx="12"/>
          </p:nvPr>
        </p:nvSpPr>
        <p:spPr/>
        <p:txBody>
          <a:bodyPr/>
          <a:lstStyle/>
          <a:p>
            <a:fld id="{3F87B148-DC85-4EDB-ACA3-100B1D618A48}" type="slidenum">
              <a:rPr lang="en-IN" smtClean="0"/>
              <a:t>‹#›</a:t>
            </a:fld>
            <a:endParaRPr lang="en-IN"/>
          </a:p>
        </p:txBody>
      </p:sp>
    </p:spTree>
    <p:extLst>
      <p:ext uri="{BB962C8B-B14F-4D97-AF65-F5344CB8AC3E}">
        <p14:creationId xmlns:p14="http://schemas.microsoft.com/office/powerpoint/2010/main" val="2394695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E6307-F6C1-2E59-6E21-7D6E8FDE3B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122EA03-CAA3-5197-8A90-FE0DF1B887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22EF38A-009D-280B-ED9B-4724A75E96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B2A297-1B5E-319E-4621-F4E414D4BC90}"/>
              </a:ext>
            </a:extLst>
          </p:cNvPr>
          <p:cNvSpPr>
            <a:spLocks noGrp="1"/>
          </p:cNvSpPr>
          <p:nvPr>
            <p:ph type="dt" sz="half" idx="10"/>
          </p:nvPr>
        </p:nvSpPr>
        <p:spPr/>
        <p:txBody>
          <a:bodyPr/>
          <a:lstStyle/>
          <a:p>
            <a:fld id="{D8FDF492-292A-45BE-B55E-523DF607BAE0}" type="datetime1">
              <a:rPr lang="en-IN" smtClean="0"/>
              <a:t>01-05-2025</a:t>
            </a:fld>
            <a:endParaRPr lang="en-IN"/>
          </a:p>
        </p:txBody>
      </p:sp>
      <p:sp>
        <p:nvSpPr>
          <p:cNvPr id="6" name="Footer Placeholder 5">
            <a:extLst>
              <a:ext uri="{FF2B5EF4-FFF2-40B4-BE49-F238E27FC236}">
                <a16:creationId xmlns:a16="http://schemas.microsoft.com/office/drawing/2014/main" id="{428E0FBC-59F7-C727-3DBF-C24C998190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25830C-09EE-0399-4A59-0F41F5AF9C74}"/>
              </a:ext>
            </a:extLst>
          </p:cNvPr>
          <p:cNvSpPr>
            <a:spLocks noGrp="1"/>
          </p:cNvSpPr>
          <p:nvPr>
            <p:ph type="sldNum" sz="quarter" idx="12"/>
          </p:nvPr>
        </p:nvSpPr>
        <p:spPr/>
        <p:txBody>
          <a:bodyPr/>
          <a:lstStyle/>
          <a:p>
            <a:fld id="{3F87B148-DC85-4EDB-ACA3-100B1D618A48}" type="slidenum">
              <a:rPr lang="en-IN" smtClean="0"/>
              <a:t>‹#›</a:t>
            </a:fld>
            <a:endParaRPr lang="en-IN"/>
          </a:p>
        </p:txBody>
      </p:sp>
    </p:spTree>
    <p:extLst>
      <p:ext uri="{BB962C8B-B14F-4D97-AF65-F5344CB8AC3E}">
        <p14:creationId xmlns:p14="http://schemas.microsoft.com/office/powerpoint/2010/main" val="4246957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A98D5-7B6D-8F5A-713C-A40E2A7DD9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721CA0C-C6B4-128B-B882-DEA2AFF581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8C7A70E-114A-C610-17B7-5464121BF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E279CB-9BA5-C74A-9EB3-1C1C7A24E41E}"/>
              </a:ext>
            </a:extLst>
          </p:cNvPr>
          <p:cNvSpPr>
            <a:spLocks noGrp="1"/>
          </p:cNvSpPr>
          <p:nvPr>
            <p:ph type="dt" sz="half" idx="10"/>
          </p:nvPr>
        </p:nvSpPr>
        <p:spPr/>
        <p:txBody>
          <a:bodyPr/>
          <a:lstStyle/>
          <a:p>
            <a:fld id="{705EE966-8F39-4364-B45C-755A161F7C04}" type="datetime1">
              <a:rPr lang="en-IN" smtClean="0"/>
              <a:t>01-05-2025</a:t>
            </a:fld>
            <a:endParaRPr lang="en-IN"/>
          </a:p>
        </p:txBody>
      </p:sp>
      <p:sp>
        <p:nvSpPr>
          <p:cNvPr id="6" name="Footer Placeholder 5">
            <a:extLst>
              <a:ext uri="{FF2B5EF4-FFF2-40B4-BE49-F238E27FC236}">
                <a16:creationId xmlns:a16="http://schemas.microsoft.com/office/drawing/2014/main" id="{12FC573E-DC7B-4E5A-050C-0A885D1512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FF75DD-277F-8B43-84EC-3CC52D51A1EE}"/>
              </a:ext>
            </a:extLst>
          </p:cNvPr>
          <p:cNvSpPr>
            <a:spLocks noGrp="1"/>
          </p:cNvSpPr>
          <p:nvPr>
            <p:ph type="sldNum" sz="quarter" idx="12"/>
          </p:nvPr>
        </p:nvSpPr>
        <p:spPr/>
        <p:txBody>
          <a:bodyPr/>
          <a:lstStyle/>
          <a:p>
            <a:fld id="{3F87B148-DC85-4EDB-ACA3-100B1D618A48}" type="slidenum">
              <a:rPr lang="en-IN" smtClean="0"/>
              <a:t>‹#›</a:t>
            </a:fld>
            <a:endParaRPr lang="en-IN"/>
          </a:p>
        </p:txBody>
      </p:sp>
    </p:spTree>
    <p:extLst>
      <p:ext uri="{BB962C8B-B14F-4D97-AF65-F5344CB8AC3E}">
        <p14:creationId xmlns:p14="http://schemas.microsoft.com/office/powerpoint/2010/main" val="618291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6A04A-7375-9A89-465C-8710CCFBF5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D2670C-10FE-A289-E584-4208373664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4A6A14-0851-CC34-5DB0-71E9D46922DA}"/>
              </a:ext>
            </a:extLst>
          </p:cNvPr>
          <p:cNvSpPr>
            <a:spLocks noGrp="1"/>
          </p:cNvSpPr>
          <p:nvPr>
            <p:ph type="dt" sz="half" idx="10"/>
          </p:nvPr>
        </p:nvSpPr>
        <p:spPr/>
        <p:txBody>
          <a:bodyPr/>
          <a:lstStyle/>
          <a:p>
            <a:fld id="{5DF59B1C-4C91-4F05-9E0B-CD18F8BDE17B}" type="datetime1">
              <a:rPr lang="en-IN" smtClean="0"/>
              <a:t>01-05-2025</a:t>
            </a:fld>
            <a:endParaRPr lang="en-IN"/>
          </a:p>
        </p:txBody>
      </p:sp>
      <p:sp>
        <p:nvSpPr>
          <p:cNvPr id="5" name="Footer Placeholder 4">
            <a:extLst>
              <a:ext uri="{FF2B5EF4-FFF2-40B4-BE49-F238E27FC236}">
                <a16:creationId xmlns:a16="http://schemas.microsoft.com/office/drawing/2014/main" id="{56B11896-97CA-4C88-7C45-CC1B4768CA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16824D-902A-6D06-6962-9D054D3AFB2B}"/>
              </a:ext>
            </a:extLst>
          </p:cNvPr>
          <p:cNvSpPr>
            <a:spLocks noGrp="1"/>
          </p:cNvSpPr>
          <p:nvPr>
            <p:ph type="sldNum" sz="quarter" idx="12"/>
          </p:nvPr>
        </p:nvSpPr>
        <p:spPr/>
        <p:txBody>
          <a:bodyPr/>
          <a:lstStyle/>
          <a:p>
            <a:fld id="{3F87B148-DC85-4EDB-ACA3-100B1D618A48}" type="slidenum">
              <a:rPr lang="en-IN" smtClean="0"/>
              <a:t>‹#›</a:t>
            </a:fld>
            <a:endParaRPr lang="en-IN"/>
          </a:p>
        </p:txBody>
      </p:sp>
    </p:spTree>
    <p:extLst>
      <p:ext uri="{BB962C8B-B14F-4D97-AF65-F5344CB8AC3E}">
        <p14:creationId xmlns:p14="http://schemas.microsoft.com/office/powerpoint/2010/main" val="2557927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360BD5-766F-5196-BDE5-C3A1862891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9D6EFF-F0DA-9EB3-34D8-F2955F2F0A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B40BCD-472A-EC23-8A6E-F46BC767CE36}"/>
              </a:ext>
            </a:extLst>
          </p:cNvPr>
          <p:cNvSpPr>
            <a:spLocks noGrp="1"/>
          </p:cNvSpPr>
          <p:nvPr>
            <p:ph type="dt" sz="half" idx="10"/>
          </p:nvPr>
        </p:nvSpPr>
        <p:spPr/>
        <p:txBody>
          <a:bodyPr/>
          <a:lstStyle/>
          <a:p>
            <a:fld id="{9D882F46-87C9-46B7-A11A-D73C54500675}" type="datetime1">
              <a:rPr lang="en-IN" smtClean="0"/>
              <a:t>01-05-2025</a:t>
            </a:fld>
            <a:endParaRPr lang="en-IN"/>
          </a:p>
        </p:txBody>
      </p:sp>
      <p:sp>
        <p:nvSpPr>
          <p:cNvPr id="5" name="Footer Placeholder 4">
            <a:extLst>
              <a:ext uri="{FF2B5EF4-FFF2-40B4-BE49-F238E27FC236}">
                <a16:creationId xmlns:a16="http://schemas.microsoft.com/office/drawing/2014/main" id="{A349664F-0A96-0FBD-FBF7-34F3F6DB9E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5998E6-173B-2439-1CA6-820BD95353C6}"/>
              </a:ext>
            </a:extLst>
          </p:cNvPr>
          <p:cNvSpPr>
            <a:spLocks noGrp="1"/>
          </p:cNvSpPr>
          <p:nvPr>
            <p:ph type="sldNum" sz="quarter" idx="12"/>
          </p:nvPr>
        </p:nvSpPr>
        <p:spPr/>
        <p:txBody>
          <a:bodyPr/>
          <a:lstStyle/>
          <a:p>
            <a:fld id="{3F87B148-DC85-4EDB-ACA3-100B1D618A48}" type="slidenum">
              <a:rPr lang="en-IN" smtClean="0"/>
              <a:t>‹#›</a:t>
            </a:fld>
            <a:endParaRPr lang="en-IN"/>
          </a:p>
        </p:txBody>
      </p:sp>
    </p:spTree>
    <p:extLst>
      <p:ext uri="{BB962C8B-B14F-4D97-AF65-F5344CB8AC3E}">
        <p14:creationId xmlns:p14="http://schemas.microsoft.com/office/powerpoint/2010/main" val="2674197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2E82E1-AEE7-C28D-8A9A-CE7D198231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B563C3-ADA2-F126-9715-1CC6FB8600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D768EC-4765-2B9C-1173-1C62E8C728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78E3F8-A532-4C57-BFBF-5E43F7117FED}" type="datetime1">
              <a:rPr lang="en-IN" smtClean="0"/>
              <a:t>01-05-2025</a:t>
            </a:fld>
            <a:endParaRPr lang="en-IN"/>
          </a:p>
        </p:txBody>
      </p:sp>
      <p:sp>
        <p:nvSpPr>
          <p:cNvPr id="5" name="Footer Placeholder 4">
            <a:extLst>
              <a:ext uri="{FF2B5EF4-FFF2-40B4-BE49-F238E27FC236}">
                <a16:creationId xmlns:a16="http://schemas.microsoft.com/office/drawing/2014/main" id="{480248C3-D768-145C-06D7-5C195AE6A8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2AFE74A-E301-B8D7-E62A-5F534542D7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87B148-DC85-4EDB-ACA3-100B1D618A48}" type="slidenum">
              <a:rPr lang="en-IN" smtClean="0"/>
              <a:t>‹#›</a:t>
            </a:fld>
            <a:endParaRPr lang="en-IN"/>
          </a:p>
        </p:txBody>
      </p:sp>
    </p:spTree>
    <p:extLst>
      <p:ext uri="{BB962C8B-B14F-4D97-AF65-F5344CB8AC3E}">
        <p14:creationId xmlns:p14="http://schemas.microsoft.com/office/powerpoint/2010/main" val="1465710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ieeexplore.ieee.org/author/37088974031" TargetMode="Externa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hyperlink" Target="https://ieeexplore.ieee.org/author/37088974495" TargetMode="External"/><Relationship Id="rId5" Type="http://schemas.openxmlformats.org/officeDocument/2006/relationships/hyperlink" Target="https://ieeexplore.ieee.org/author/37088974121" TargetMode="External"/><Relationship Id="rId4" Type="http://schemas.openxmlformats.org/officeDocument/2006/relationships/hyperlink" Target="https://ieeexplore.ieee.org/author/37088973589"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docs.google.com/document/d/1Utvi7-ksUWMUrBSl8U5BhedsQWbDSiya/edit?usp=sharing&amp;ouid=115762999925761984349&amp;rtpof=true&amp;sd=tru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8DDB9-DBBF-DC77-1AE3-8FF0BB4289B5}"/>
              </a:ext>
            </a:extLst>
          </p:cNvPr>
          <p:cNvSpPr>
            <a:spLocks noGrp="1"/>
          </p:cNvSpPr>
          <p:nvPr>
            <p:ph type="ctrTitle"/>
          </p:nvPr>
        </p:nvSpPr>
        <p:spPr>
          <a:xfrm>
            <a:off x="1421364" y="1726162"/>
            <a:ext cx="9144000" cy="1875875"/>
          </a:xfrm>
        </p:spPr>
        <p:txBody>
          <a:bodyPr>
            <a:noAutofit/>
          </a:bodyPr>
          <a:lstStyle/>
          <a:p>
            <a:pPr>
              <a:lnSpc>
                <a:spcPct val="107000"/>
              </a:lnSpc>
              <a:spcAft>
                <a:spcPts val="800"/>
              </a:spcAft>
            </a:pP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br>
              <a:rPr lang="en-IN" sz="1800" dirty="0"/>
            </a:br>
            <a:r>
              <a:rPr lang="en-IN" sz="1800" b="1" kern="100" dirty="0">
                <a:effectLst/>
                <a:latin typeface="Bookman Old Style" panose="02050604050505020204" pitchFamily="18" charset="0"/>
                <a:ea typeface="Calibri" panose="020F0502020204030204" pitchFamily="34" charset="0"/>
                <a:cs typeface="Mangal" panose="02040503050203030202" pitchFamily="18" charset="0"/>
              </a:rPr>
              <a:t>DEPARTMENT OF COMPUTER SCIENCE</a:t>
            </a:r>
            <a:br>
              <a:rPr lang="en-IN" sz="1800" dirty="0"/>
            </a:b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1800" b="1" kern="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a:t>
            </a:r>
            <a:br>
              <a:rPr lang="en-IN" sz="1800" kern="100" dirty="0">
                <a:effectLst/>
                <a:latin typeface="Calibri" panose="020F0502020204030204" pitchFamily="34" charset="0"/>
                <a:ea typeface="Calibri" panose="020F0502020204030204" pitchFamily="34" charset="0"/>
                <a:cs typeface="Mangal" panose="02040503050203030202" pitchFamily="18" charset="0"/>
              </a:rPr>
            </a:br>
            <a:r>
              <a:rPr lang="en-IN" sz="3600" b="1" dirty="0"/>
              <a:t> Project Presentation (BCS 554)</a:t>
            </a:r>
            <a:br>
              <a:rPr lang="en-IN" sz="3600" b="1" dirty="0"/>
            </a:br>
            <a:br>
              <a:rPr lang="en-IN" sz="3600" dirty="0"/>
            </a:br>
            <a:r>
              <a:rPr lang="en-IN" sz="2400" b="1" dirty="0"/>
              <a:t>U</a:t>
            </a:r>
            <a:r>
              <a:rPr lang="en-US" sz="2000" b="1" dirty="0">
                <a:effectLst/>
                <a:latin typeface="Century Gothic" panose="020B0502020202020204" pitchFamily="34" charset="0"/>
                <a:ea typeface="Times New Roman" panose="02020603050405020304" pitchFamily="18" charset="0"/>
              </a:rPr>
              <a:t>sing existing CCTV network for crowd management, crime prevention, and work monitoring using AI/ML</a:t>
            </a:r>
            <a:endParaRPr lang="en-IN" sz="3600" b="1" dirty="0"/>
          </a:p>
        </p:txBody>
      </p:sp>
      <p:sp>
        <p:nvSpPr>
          <p:cNvPr id="3" name="Subtitle 2">
            <a:extLst>
              <a:ext uri="{FF2B5EF4-FFF2-40B4-BE49-F238E27FC236}">
                <a16:creationId xmlns:a16="http://schemas.microsoft.com/office/drawing/2014/main" id="{46207054-A6EA-6CA8-C089-99868F853414}"/>
              </a:ext>
            </a:extLst>
          </p:cNvPr>
          <p:cNvSpPr>
            <a:spLocks noGrp="1"/>
          </p:cNvSpPr>
          <p:nvPr>
            <p:ph type="subTitle" idx="1"/>
          </p:nvPr>
        </p:nvSpPr>
        <p:spPr>
          <a:xfrm>
            <a:off x="1524000" y="3900325"/>
            <a:ext cx="9144000" cy="2001837"/>
          </a:xfrm>
        </p:spPr>
        <p:txBody>
          <a:bodyPr>
            <a:normAutofit/>
          </a:bodyPr>
          <a:lstStyle/>
          <a:p>
            <a:r>
              <a:rPr lang="en-IN" dirty="0"/>
              <a:t>Under the supervision of</a:t>
            </a:r>
          </a:p>
          <a:p>
            <a:r>
              <a:rPr lang="en-IN" dirty="0"/>
              <a:t>Dr. Rajkumar sir (Additional Head of Department)</a:t>
            </a:r>
          </a:p>
          <a:p>
            <a:r>
              <a:rPr lang="en-IN" dirty="0"/>
              <a:t>Project member details:</a:t>
            </a:r>
          </a:p>
          <a:p>
            <a:r>
              <a:rPr lang="en-IN" dirty="0"/>
              <a:t> Aarohi Saxena 2200291520002 Sec- B</a:t>
            </a:r>
          </a:p>
          <a:p>
            <a:endParaRPr lang="en-IN" dirty="0"/>
          </a:p>
        </p:txBody>
      </p:sp>
      <p:sp>
        <p:nvSpPr>
          <p:cNvPr id="7" name="Rectangle 3">
            <a:extLst>
              <a:ext uri="{FF2B5EF4-FFF2-40B4-BE49-F238E27FC236}">
                <a16:creationId xmlns:a16="http://schemas.microsoft.com/office/drawing/2014/main" id="{2D2E11FF-47D0-A19D-F7FA-3856276B538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6960" tIns="22218" rIns="91440" bIns="0" numCol="1" anchor="ctr" anchorCtr="0" compatLnSpc="1">
            <a:prstTxWarp prst="textNoShape">
              <a:avLst/>
            </a:prstTxWarp>
            <a:spAutoFit/>
          </a:bodyPr>
          <a:lstStyle/>
          <a:p>
            <a:endParaRPr lang="en-IN"/>
          </a:p>
        </p:txBody>
      </p:sp>
      <p:sp>
        <p:nvSpPr>
          <p:cNvPr id="6" name="Slide Number Placeholder 5">
            <a:extLst>
              <a:ext uri="{FF2B5EF4-FFF2-40B4-BE49-F238E27FC236}">
                <a16:creationId xmlns:a16="http://schemas.microsoft.com/office/drawing/2014/main" id="{E114F4EE-400B-FEDB-993A-F70B49DB4028}"/>
              </a:ext>
            </a:extLst>
          </p:cNvPr>
          <p:cNvSpPr>
            <a:spLocks noGrp="1"/>
          </p:cNvSpPr>
          <p:nvPr>
            <p:ph type="sldNum" sz="quarter" idx="12"/>
          </p:nvPr>
        </p:nvSpPr>
        <p:spPr/>
        <p:txBody>
          <a:bodyPr/>
          <a:lstStyle/>
          <a:p>
            <a:fld id="{3F87B148-DC85-4EDB-ACA3-100B1D618A48}" type="slidenum">
              <a:rPr lang="en-IN" smtClean="0"/>
              <a:t>1</a:t>
            </a:fld>
            <a:endParaRPr lang="en-IN" dirty="0"/>
          </a:p>
        </p:txBody>
      </p:sp>
      <p:pic>
        <p:nvPicPr>
          <p:cNvPr id="4" name="Picture 3">
            <a:extLst>
              <a:ext uri="{FF2B5EF4-FFF2-40B4-BE49-F238E27FC236}">
                <a16:creationId xmlns:a16="http://schemas.microsoft.com/office/drawing/2014/main" id="{D753F8E0-0600-DD78-371E-E081CC4191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5862" y="404332"/>
            <a:ext cx="11112758" cy="1023541"/>
          </a:xfrm>
          <a:prstGeom prst="rect">
            <a:avLst/>
          </a:prstGeom>
        </p:spPr>
      </p:pic>
    </p:spTree>
    <p:extLst>
      <p:ext uri="{BB962C8B-B14F-4D97-AF65-F5344CB8AC3E}">
        <p14:creationId xmlns:p14="http://schemas.microsoft.com/office/powerpoint/2010/main" val="440059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FDDEC6-EFF5-7794-A8B1-E128B433790E}"/>
              </a:ext>
            </a:extLst>
          </p:cNvPr>
          <p:cNvSpPr>
            <a:spLocks noGrp="1"/>
          </p:cNvSpPr>
          <p:nvPr>
            <p:ph type="title"/>
          </p:nvPr>
        </p:nvSpPr>
        <p:spPr>
          <a:xfrm>
            <a:off x="526110" y="1782168"/>
            <a:ext cx="4150581" cy="1800165"/>
          </a:xfrm>
        </p:spPr>
        <p:txBody>
          <a:bodyPr anchor="t">
            <a:normAutofit/>
          </a:bodyPr>
          <a:lstStyle/>
          <a:p>
            <a:pPr algn="r"/>
            <a:r>
              <a:rPr lang="en-IN" sz="4000" dirty="0"/>
              <a:t>Problem Statement</a:t>
            </a:r>
          </a:p>
        </p:txBody>
      </p:sp>
      <p:pic>
        <p:nvPicPr>
          <p:cNvPr id="5" name="Picture 4">
            <a:extLst>
              <a:ext uri="{FF2B5EF4-FFF2-40B4-BE49-F238E27FC236}">
                <a16:creationId xmlns:a16="http://schemas.microsoft.com/office/drawing/2014/main" id="{33D72CE9-6115-DDE4-4043-ACE00046C4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6110" y="402304"/>
            <a:ext cx="11139778" cy="1141828"/>
          </a:xfrm>
          <a:prstGeom prst="rect">
            <a:avLst/>
          </a:prstGeom>
        </p:spPr>
      </p:pic>
      <p:sp>
        <p:nvSpPr>
          <p:cNvPr id="3" name="Content Placeholder 2">
            <a:extLst>
              <a:ext uri="{FF2B5EF4-FFF2-40B4-BE49-F238E27FC236}">
                <a16:creationId xmlns:a16="http://schemas.microsoft.com/office/drawing/2014/main" id="{F3BD3E8B-0709-388B-458A-AEF01E26D159}"/>
              </a:ext>
            </a:extLst>
          </p:cNvPr>
          <p:cNvSpPr>
            <a:spLocks noGrp="1"/>
          </p:cNvSpPr>
          <p:nvPr>
            <p:ph idx="1"/>
          </p:nvPr>
        </p:nvSpPr>
        <p:spPr>
          <a:xfrm>
            <a:off x="5316710" y="1782168"/>
            <a:ext cx="6552201" cy="3905400"/>
          </a:xfrm>
        </p:spPr>
        <p:txBody>
          <a:bodyPr anchor="t">
            <a:normAutofit fontScale="92500"/>
          </a:bodyPr>
          <a:lstStyle/>
          <a:p>
            <a:r>
              <a:rPr lang="en-US" sz="1800" dirty="0"/>
              <a:t> Indian Railways faces challenges in managing crowds, cleanliness, crime prevention, and work monitoring.</a:t>
            </a:r>
          </a:p>
          <a:p>
            <a:r>
              <a:rPr lang="en-US" sz="1800" b="1" dirty="0"/>
              <a:t>Manual surveillance</a:t>
            </a:r>
            <a:r>
              <a:rPr lang="en-US" sz="1800" dirty="0"/>
              <a:t> is time-consuming and prone to human error.</a:t>
            </a:r>
          </a:p>
          <a:p>
            <a:r>
              <a:rPr lang="en-US" sz="1800" b="1" dirty="0"/>
              <a:t>AI and ML</a:t>
            </a:r>
            <a:r>
              <a:rPr lang="en-US" sz="1800" dirty="0"/>
              <a:t> can enhance CCTV systems by providing </a:t>
            </a:r>
            <a:r>
              <a:rPr lang="en-US" sz="1800" b="1" dirty="0"/>
              <a:t>real-time data analysis</a:t>
            </a:r>
            <a:r>
              <a:rPr lang="en-US" sz="1800" dirty="0"/>
              <a:t> for detecting anomalies and improving operational efficiency.</a:t>
            </a:r>
          </a:p>
          <a:p>
            <a:r>
              <a:rPr lang="en-US" sz="1800" b="1" dirty="0"/>
              <a:t>AI</a:t>
            </a:r>
            <a:r>
              <a:rPr lang="en-US" sz="1800" dirty="0"/>
              <a:t> can detect unusual behavior, and </a:t>
            </a:r>
            <a:r>
              <a:rPr lang="en-US" sz="1800" b="1" dirty="0"/>
              <a:t>ML</a:t>
            </a:r>
            <a:r>
              <a:rPr lang="en-US" sz="1800" dirty="0"/>
              <a:t> can predict crowd patterns for better resource management.</a:t>
            </a:r>
          </a:p>
          <a:p>
            <a:r>
              <a:rPr lang="en-US" sz="1800" dirty="0"/>
              <a:t>Significant </a:t>
            </a:r>
            <a:r>
              <a:rPr lang="en-US" sz="1800" b="1" dirty="0"/>
              <a:t>investment in technology and infrastructure</a:t>
            </a:r>
            <a:r>
              <a:rPr lang="en-US" sz="1800" dirty="0"/>
              <a:t> is required to implement AI-based CCTV systems.</a:t>
            </a:r>
          </a:p>
          <a:p>
            <a:r>
              <a:rPr lang="en-US" sz="1800" b="1" dirty="0"/>
              <a:t>Privacy and ethical considerations</a:t>
            </a:r>
            <a:r>
              <a:rPr lang="en-US" sz="1800" dirty="0"/>
              <a:t> must be addressed to protect passengers' rights.</a:t>
            </a:r>
          </a:p>
          <a:p>
            <a:r>
              <a:rPr lang="en-US" sz="1800" dirty="0"/>
              <a:t>Proper </a:t>
            </a:r>
            <a:r>
              <a:rPr lang="en-US" sz="1800" b="1" dirty="0"/>
              <a:t>planning and implementation</a:t>
            </a:r>
            <a:r>
              <a:rPr lang="en-US" sz="1800" dirty="0"/>
              <a:t> are essential for success.</a:t>
            </a:r>
            <a:endParaRPr lang="en-IN" sz="1800" dirty="0"/>
          </a:p>
        </p:txBody>
      </p:sp>
      <p:sp>
        <p:nvSpPr>
          <p:cNvPr id="12" name="Rectangle 11">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FA669B67-E642-6359-B42A-A1E89FAE02DD}"/>
              </a:ext>
            </a:extLst>
          </p:cNvPr>
          <p:cNvSpPr>
            <a:spLocks noGrp="1"/>
          </p:cNvSpPr>
          <p:nvPr>
            <p:ph type="sldNum" sz="quarter" idx="12"/>
          </p:nvPr>
        </p:nvSpPr>
        <p:spPr>
          <a:xfrm>
            <a:off x="11704320" y="6451877"/>
            <a:ext cx="448056" cy="365125"/>
          </a:xfrm>
        </p:spPr>
        <p:txBody>
          <a:bodyPr>
            <a:normAutofit/>
          </a:bodyPr>
          <a:lstStyle/>
          <a:p>
            <a:pPr>
              <a:spcAft>
                <a:spcPts val="600"/>
              </a:spcAft>
            </a:pPr>
            <a:fld id="{3F87B148-DC85-4EDB-ACA3-100B1D618A48}" type="slidenum">
              <a:rPr lang="en-IN" sz="1100">
                <a:solidFill>
                  <a:srgbClr val="FFFFFF"/>
                </a:solidFill>
              </a:rPr>
              <a:pPr>
                <a:spcAft>
                  <a:spcPts val="600"/>
                </a:spcAft>
              </a:pPr>
              <a:t>2</a:t>
            </a:fld>
            <a:endParaRPr lang="en-IN" sz="1100">
              <a:solidFill>
                <a:srgbClr val="FFFFFF"/>
              </a:solidFill>
            </a:endParaRPr>
          </a:p>
        </p:txBody>
      </p:sp>
      <p:pic>
        <p:nvPicPr>
          <p:cNvPr id="7" name="Picture 6">
            <a:extLst>
              <a:ext uri="{FF2B5EF4-FFF2-40B4-BE49-F238E27FC236}">
                <a16:creationId xmlns:a16="http://schemas.microsoft.com/office/drawing/2014/main" id="{5D7D6194-53CA-2569-5067-9E4FC7715A96}"/>
              </a:ext>
            </a:extLst>
          </p:cNvPr>
          <p:cNvPicPr>
            <a:picLocks noChangeAspect="1"/>
          </p:cNvPicPr>
          <p:nvPr/>
        </p:nvPicPr>
        <p:blipFill>
          <a:blip r:embed="rId3"/>
          <a:stretch>
            <a:fillRect/>
          </a:stretch>
        </p:blipFill>
        <p:spPr>
          <a:xfrm>
            <a:off x="654125" y="2479718"/>
            <a:ext cx="4008460" cy="3567124"/>
          </a:xfrm>
          <a:prstGeom prst="rect">
            <a:avLst/>
          </a:prstGeom>
        </p:spPr>
      </p:pic>
    </p:spTree>
    <p:extLst>
      <p:ext uri="{BB962C8B-B14F-4D97-AF65-F5344CB8AC3E}">
        <p14:creationId xmlns:p14="http://schemas.microsoft.com/office/powerpoint/2010/main" val="2147070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764526ED-2672-46AF-F082-D3355874295C}"/>
              </a:ext>
            </a:extLst>
          </p:cNvPr>
          <p:cNvSpPr>
            <a:spLocks noGrp="1"/>
          </p:cNvSpPr>
          <p:nvPr>
            <p:ph type="title"/>
          </p:nvPr>
        </p:nvSpPr>
        <p:spPr>
          <a:xfrm>
            <a:off x="481628" y="1031039"/>
            <a:ext cx="3981854" cy="2216513"/>
          </a:xfrm>
        </p:spPr>
        <p:txBody>
          <a:bodyPr>
            <a:normAutofit/>
          </a:bodyPr>
          <a:lstStyle/>
          <a:p>
            <a:r>
              <a:rPr lang="en-IN" dirty="0"/>
              <a:t>Objectives</a:t>
            </a:r>
          </a:p>
        </p:txBody>
      </p:sp>
      <p:sp>
        <p:nvSpPr>
          <p:cNvPr id="12" name="Arc 11">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440BF059-CC13-E547-687C-A32B5D7F33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1628" y="473840"/>
            <a:ext cx="10872172" cy="1114398"/>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Content Placeholder 2">
            <a:extLst>
              <a:ext uri="{FF2B5EF4-FFF2-40B4-BE49-F238E27FC236}">
                <a16:creationId xmlns:a16="http://schemas.microsoft.com/office/drawing/2014/main" id="{9181BEE4-040B-E441-AE7B-CECFB272C133}"/>
              </a:ext>
            </a:extLst>
          </p:cNvPr>
          <p:cNvSpPr>
            <a:spLocks noGrp="1"/>
          </p:cNvSpPr>
          <p:nvPr>
            <p:ph idx="1"/>
          </p:nvPr>
        </p:nvSpPr>
        <p:spPr>
          <a:xfrm>
            <a:off x="4717158" y="1836718"/>
            <a:ext cx="6859146" cy="4451510"/>
          </a:xfrm>
        </p:spPr>
        <p:txBody>
          <a:bodyPr>
            <a:normAutofit/>
          </a:bodyPr>
          <a:lstStyle/>
          <a:p>
            <a:r>
              <a:rPr lang="en-US" sz="180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Leverage ML algorithms </a:t>
            </a:r>
            <a:r>
              <a:rPr lang="en-US" sz="2000" dirty="0">
                <a:effectLst/>
                <a:latin typeface="Times New Roman" panose="02020603050405020304" pitchFamily="18" charset="0"/>
                <a:ea typeface="Times New Roman" panose="02020603050405020304" pitchFamily="18" charset="0"/>
              </a:rPr>
              <a:t>to analyze video feeds in real-time, detecting unusual behavior, overcrowding, and potential safety risks.</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Automate crime detection </a:t>
            </a:r>
            <a:r>
              <a:rPr lang="en-US" sz="2000" dirty="0">
                <a:effectLst/>
                <a:latin typeface="Times New Roman" panose="02020603050405020304" pitchFamily="18" charset="0"/>
                <a:ea typeface="Times New Roman" panose="02020603050405020304" pitchFamily="18" charset="0"/>
              </a:rPr>
              <a:t>by identifying suspicious activities and alerting security personnel promptly.</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Optimize resource management</a:t>
            </a:r>
            <a:r>
              <a:rPr lang="en-US" sz="2000" dirty="0">
                <a:effectLst/>
                <a:latin typeface="Times New Roman" panose="02020603050405020304" pitchFamily="18" charset="0"/>
                <a:ea typeface="Times New Roman" panose="02020603050405020304" pitchFamily="18" charset="0"/>
              </a:rPr>
              <a:t> through the prediction of crowd patterns, enabling better staff and resource allocation.</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Ensure effective work monitoring</a:t>
            </a:r>
            <a:r>
              <a:rPr lang="en-US" sz="2000" dirty="0">
                <a:effectLst/>
                <a:latin typeface="Times New Roman" panose="02020603050405020304" pitchFamily="18" charset="0"/>
                <a:ea typeface="Times New Roman" panose="02020603050405020304" pitchFamily="18" charset="0"/>
              </a:rPr>
              <a:t> by tracking activities such as station cleanliness and maintenance operations to ensure adherence to standards.</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Integrate</a:t>
            </a:r>
            <a:r>
              <a:rPr lang="en-US" sz="2000" dirty="0">
                <a:effectLst/>
                <a:latin typeface="Times New Roman" panose="02020603050405020304" pitchFamily="18" charset="0"/>
                <a:ea typeface="Times New Roman" panose="02020603050405020304" pitchFamily="18" charset="0"/>
              </a:rPr>
              <a:t> with </a:t>
            </a:r>
            <a:r>
              <a:rPr lang="en-US" sz="2000" b="1" dirty="0">
                <a:effectLst/>
                <a:latin typeface="Times New Roman" panose="02020603050405020304" pitchFamily="18" charset="0"/>
                <a:ea typeface="Times New Roman" panose="02020603050405020304" pitchFamily="18" charset="0"/>
              </a:rPr>
              <a:t>web-based technologies</a:t>
            </a:r>
            <a:r>
              <a:rPr lang="en-US" sz="2000" dirty="0">
                <a:effectLst/>
                <a:latin typeface="Times New Roman" panose="02020603050405020304" pitchFamily="18" charset="0"/>
                <a:ea typeface="Times New Roman" panose="02020603050405020304" pitchFamily="18" charset="0"/>
              </a:rPr>
              <a:t> for a user-friendly interface to manage surveillance, reporting, and decision-making without relying on cloud or edge computing infrastructure.</a:t>
            </a:r>
            <a:endParaRPr lang="en-IN" sz="2000" dirty="0">
              <a:effectLst/>
              <a:latin typeface="Times New Roman" panose="02020603050405020304" pitchFamily="18" charset="0"/>
              <a:ea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B161C2EE-9908-3402-0331-79EA8373855C}"/>
              </a:ext>
            </a:extLst>
          </p:cNvPr>
          <p:cNvSpPr>
            <a:spLocks noGrp="1"/>
          </p:cNvSpPr>
          <p:nvPr>
            <p:ph type="sldNum" sz="quarter" idx="12"/>
          </p:nvPr>
        </p:nvSpPr>
        <p:spPr>
          <a:xfrm>
            <a:off x="8610600" y="6356350"/>
            <a:ext cx="2743200" cy="365125"/>
          </a:xfrm>
        </p:spPr>
        <p:txBody>
          <a:bodyPr>
            <a:normAutofit/>
          </a:bodyPr>
          <a:lstStyle/>
          <a:p>
            <a:pPr>
              <a:spcAft>
                <a:spcPts val="600"/>
              </a:spcAft>
            </a:pPr>
            <a:fld id="{3F87B148-DC85-4EDB-ACA3-100B1D618A48}" type="slidenum">
              <a:rPr lang="en-IN" smtClean="0"/>
              <a:pPr>
                <a:spcAft>
                  <a:spcPts val="600"/>
                </a:spcAft>
              </a:pPr>
              <a:t>3</a:t>
            </a:fld>
            <a:endParaRPr lang="en-IN"/>
          </a:p>
        </p:txBody>
      </p:sp>
    </p:spTree>
    <p:extLst>
      <p:ext uri="{BB962C8B-B14F-4D97-AF65-F5344CB8AC3E}">
        <p14:creationId xmlns:p14="http://schemas.microsoft.com/office/powerpoint/2010/main" val="597251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1C568D-3050-6438-93B2-E5AF9F44308B}"/>
              </a:ext>
            </a:extLst>
          </p:cNvPr>
          <p:cNvSpPr>
            <a:spLocks noGrp="1"/>
          </p:cNvSpPr>
          <p:nvPr>
            <p:ph type="title"/>
          </p:nvPr>
        </p:nvSpPr>
        <p:spPr>
          <a:xfrm>
            <a:off x="733259" y="1845759"/>
            <a:ext cx="4150581" cy="1800165"/>
          </a:xfrm>
        </p:spPr>
        <p:txBody>
          <a:bodyPr anchor="t">
            <a:normAutofit/>
          </a:bodyPr>
          <a:lstStyle/>
          <a:p>
            <a:pPr algn="r"/>
            <a:r>
              <a:rPr lang="en-IN" sz="4000" dirty="0"/>
              <a:t>Technology Used	</a:t>
            </a:r>
          </a:p>
        </p:txBody>
      </p:sp>
      <p:pic>
        <p:nvPicPr>
          <p:cNvPr id="5" name="Picture 4">
            <a:extLst>
              <a:ext uri="{FF2B5EF4-FFF2-40B4-BE49-F238E27FC236}">
                <a16:creationId xmlns:a16="http://schemas.microsoft.com/office/drawing/2014/main" id="{AC16FBAB-E669-E77E-8179-664AC89180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6110" y="328073"/>
            <a:ext cx="11139778" cy="1141828"/>
          </a:xfrm>
          <a:prstGeom prst="rect">
            <a:avLst/>
          </a:prstGeom>
        </p:spPr>
      </p:pic>
      <p:sp>
        <p:nvSpPr>
          <p:cNvPr id="3" name="Content Placeholder 2">
            <a:extLst>
              <a:ext uri="{FF2B5EF4-FFF2-40B4-BE49-F238E27FC236}">
                <a16:creationId xmlns:a16="http://schemas.microsoft.com/office/drawing/2014/main" id="{8A5B179F-098B-C6BE-CCDC-17FFD09F1CE9}"/>
              </a:ext>
            </a:extLst>
          </p:cNvPr>
          <p:cNvSpPr>
            <a:spLocks noGrp="1"/>
          </p:cNvSpPr>
          <p:nvPr>
            <p:ph idx="1"/>
          </p:nvPr>
        </p:nvSpPr>
        <p:spPr>
          <a:xfrm>
            <a:off x="5294040" y="1934568"/>
            <a:ext cx="6538296" cy="4228487"/>
          </a:xfrm>
        </p:spPr>
        <p:txBody>
          <a:bodyPr anchor="t">
            <a:normAutofit fontScale="62500" lnSpcReduction="20000"/>
          </a:bodyPr>
          <a:lstStyle/>
          <a:p>
            <a:r>
              <a:rPr lang="en-US" sz="2000" dirty="0">
                <a:effectLst/>
                <a:latin typeface="Times New Roman" panose="02020603050405020304" pitchFamily="18" charset="0"/>
                <a:ea typeface="Times New Roman" panose="02020603050405020304" pitchFamily="18" charset="0"/>
              </a:rPr>
              <a:t>1. </a:t>
            </a:r>
            <a:r>
              <a:rPr lang="en-US" sz="2000" b="1" dirty="0">
                <a:effectLst/>
                <a:latin typeface="Times New Roman" panose="02020603050405020304" pitchFamily="18" charset="0"/>
                <a:ea typeface="Times New Roman" panose="02020603050405020304" pitchFamily="18" charset="0"/>
              </a:rPr>
              <a:t>ML Models</a:t>
            </a:r>
            <a:r>
              <a:rPr lang="en-US" sz="200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ResNet50 (CNN):</a:t>
            </a:r>
            <a:r>
              <a:rPr lang="en-US" sz="2000" dirty="0">
                <a:effectLst/>
                <a:latin typeface="Times New Roman" panose="02020603050405020304" pitchFamily="18" charset="0"/>
                <a:ea typeface="Times New Roman" panose="02020603050405020304" pitchFamily="18" charset="0"/>
              </a:rPr>
              <a:t> For real-time anomaly detection in video frames.</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2. </a:t>
            </a:r>
            <a:r>
              <a:rPr lang="en-US" sz="2000" b="1" dirty="0">
                <a:effectLst/>
                <a:latin typeface="Times New Roman" panose="02020603050405020304" pitchFamily="18" charset="0"/>
                <a:ea typeface="Times New Roman" panose="02020603050405020304" pitchFamily="18" charset="0"/>
              </a:rPr>
              <a:t>Programming Languages:  </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   - </a:t>
            </a:r>
            <a:r>
              <a:rPr lang="en-US" sz="2000" b="1" dirty="0">
                <a:effectLst/>
                <a:latin typeface="Times New Roman" panose="02020603050405020304" pitchFamily="18" charset="0"/>
                <a:ea typeface="Times New Roman" panose="02020603050405020304" pitchFamily="18" charset="0"/>
              </a:rPr>
              <a:t>Python</a:t>
            </a:r>
            <a:r>
              <a:rPr lang="en-US" sz="2000" dirty="0">
                <a:effectLst/>
                <a:latin typeface="Times New Roman" panose="02020603050405020304" pitchFamily="18" charset="0"/>
                <a:ea typeface="Times New Roman" panose="02020603050405020304" pitchFamily="18" charset="0"/>
              </a:rPr>
              <a:t>: For implementing ML models and backend logic.  </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   - </a:t>
            </a:r>
            <a:r>
              <a:rPr lang="en-US" sz="2000" b="1" dirty="0">
                <a:effectLst/>
                <a:latin typeface="Times New Roman" panose="02020603050405020304" pitchFamily="18" charset="0"/>
                <a:ea typeface="Times New Roman" panose="02020603050405020304" pitchFamily="18" charset="0"/>
              </a:rPr>
              <a:t>JavaScript</a:t>
            </a:r>
            <a:r>
              <a:rPr lang="en-US" sz="2000" dirty="0">
                <a:effectLst/>
                <a:latin typeface="Times New Roman" panose="02020603050405020304" pitchFamily="18" charset="0"/>
                <a:ea typeface="Times New Roman" panose="02020603050405020304" pitchFamily="18" charset="0"/>
              </a:rPr>
              <a:t>: For building the web portal UI.</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3. </a:t>
            </a:r>
            <a:r>
              <a:rPr lang="en-US" sz="2000" b="1" dirty="0">
                <a:effectLst/>
                <a:latin typeface="Times New Roman" panose="02020603050405020304" pitchFamily="18" charset="0"/>
                <a:ea typeface="Times New Roman" panose="02020603050405020304" pitchFamily="18" charset="0"/>
              </a:rPr>
              <a:t>Image Processing</a:t>
            </a:r>
            <a:r>
              <a:rPr lang="en-US" sz="2000" dirty="0">
                <a:effectLst/>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   - </a:t>
            </a:r>
            <a:r>
              <a:rPr lang="en-US" sz="2000" b="1" dirty="0">
                <a:effectLst/>
                <a:latin typeface="Times New Roman" panose="02020603050405020304" pitchFamily="18" charset="0"/>
                <a:ea typeface="Times New Roman" panose="02020603050405020304" pitchFamily="18" charset="0"/>
              </a:rPr>
              <a:t>OpenCV</a:t>
            </a:r>
            <a:r>
              <a:rPr lang="en-US" sz="2000" dirty="0">
                <a:effectLst/>
                <a:latin typeface="Times New Roman" panose="02020603050405020304" pitchFamily="18" charset="0"/>
                <a:ea typeface="Times New Roman" panose="02020603050405020304" pitchFamily="18" charset="0"/>
              </a:rPr>
              <a:t>: For frame extraction and preprocessing.</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4. </a:t>
            </a:r>
            <a:r>
              <a:rPr lang="en-US" sz="2000" b="1" dirty="0">
                <a:effectLst/>
                <a:latin typeface="Times New Roman" panose="02020603050405020304" pitchFamily="18" charset="0"/>
                <a:ea typeface="Times New Roman" panose="02020603050405020304" pitchFamily="18" charset="0"/>
              </a:rPr>
              <a:t>Web Development</a:t>
            </a:r>
            <a:r>
              <a:rPr lang="en-US" sz="2000" dirty="0">
                <a:effectLst/>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   - </a:t>
            </a:r>
            <a:r>
              <a:rPr lang="en-US" sz="2000" b="1" dirty="0">
                <a:effectLst/>
                <a:latin typeface="Times New Roman" panose="02020603050405020304" pitchFamily="18" charset="0"/>
                <a:ea typeface="Times New Roman" panose="02020603050405020304" pitchFamily="18" charset="0"/>
              </a:rPr>
              <a:t>HTML/CSS/JavaScript</a:t>
            </a:r>
            <a:r>
              <a:rPr lang="en-US" sz="2000" dirty="0">
                <a:effectLst/>
                <a:latin typeface="Times New Roman" panose="02020603050405020304" pitchFamily="18" charset="0"/>
                <a:ea typeface="Times New Roman" panose="02020603050405020304" pitchFamily="18" charset="0"/>
              </a:rPr>
              <a:t> with </a:t>
            </a:r>
            <a:r>
              <a:rPr lang="en-US" sz="2000" b="1" dirty="0">
                <a:effectLst/>
                <a:latin typeface="Times New Roman" panose="02020603050405020304" pitchFamily="18" charset="0"/>
                <a:ea typeface="Times New Roman" panose="02020603050405020304" pitchFamily="18" charset="0"/>
              </a:rPr>
              <a:t>React</a:t>
            </a:r>
            <a:r>
              <a:rPr lang="en-US" sz="2000" dirty="0">
                <a:effectLst/>
                <a:latin typeface="Times New Roman" panose="02020603050405020304" pitchFamily="18" charset="0"/>
                <a:ea typeface="Times New Roman" panose="02020603050405020304" pitchFamily="18" charset="0"/>
              </a:rPr>
              <a:t> or </a:t>
            </a:r>
            <a:r>
              <a:rPr lang="en-US" sz="2000" b="1" dirty="0">
                <a:effectLst/>
                <a:latin typeface="Times New Roman" panose="02020603050405020304" pitchFamily="18" charset="0"/>
                <a:ea typeface="Times New Roman" panose="02020603050405020304" pitchFamily="18" charset="0"/>
              </a:rPr>
              <a:t>Angular</a:t>
            </a:r>
            <a:r>
              <a:rPr lang="en-US" sz="2000" dirty="0">
                <a:effectLst/>
                <a:latin typeface="Times New Roman" panose="02020603050405020304" pitchFamily="18" charset="0"/>
                <a:ea typeface="Times New Roman" panose="02020603050405020304" pitchFamily="18" charset="0"/>
              </a:rPr>
              <a:t> for a dynamic user interface.  </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   - </a:t>
            </a:r>
            <a:r>
              <a:rPr lang="en-US" sz="2000" b="1" dirty="0">
                <a:effectLst/>
                <a:latin typeface="Times New Roman" panose="02020603050405020304" pitchFamily="18" charset="0"/>
                <a:ea typeface="Times New Roman" panose="02020603050405020304" pitchFamily="18" charset="0"/>
              </a:rPr>
              <a:t>Flask/Django</a:t>
            </a:r>
            <a:r>
              <a:rPr lang="en-US" sz="2000" dirty="0">
                <a:effectLst/>
                <a:latin typeface="Times New Roman" panose="02020603050405020304" pitchFamily="18" charset="0"/>
                <a:ea typeface="Times New Roman" panose="02020603050405020304" pitchFamily="18" charset="0"/>
              </a:rPr>
              <a:t> or </a:t>
            </a:r>
            <a:r>
              <a:rPr lang="en-US" sz="2000" b="1" dirty="0">
                <a:effectLst/>
                <a:latin typeface="Times New Roman" panose="02020603050405020304" pitchFamily="18" charset="0"/>
                <a:ea typeface="Times New Roman" panose="02020603050405020304" pitchFamily="18" charset="0"/>
              </a:rPr>
              <a:t>Node.js</a:t>
            </a:r>
            <a:r>
              <a:rPr lang="en-US" sz="2000" dirty="0">
                <a:effectLst/>
                <a:latin typeface="Times New Roman" panose="02020603050405020304" pitchFamily="18" charset="0"/>
                <a:ea typeface="Times New Roman" panose="02020603050405020304" pitchFamily="18" charset="0"/>
              </a:rPr>
              <a:t> for backend operations and API handling.</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5. </a:t>
            </a:r>
            <a:r>
              <a:rPr lang="en-US" sz="2000" b="1" dirty="0">
                <a:effectLst/>
                <a:latin typeface="Times New Roman" panose="02020603050405020304" pitchFamily="18" charset="0"/>
                <a:ea typeface="Times New Roman" panose="02020603050405020304" pitchFamily="18" charset="0"/>
              </a:rPr>
              <a:t>Database:</a:t>
            </a:r>
            <a:r>
              <a:rPr lang="en-US" sz="200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MySQL/PostgreSQL</a:t>
            </a:r>
            <a:r>
              <a:rPr lang="en-US" sz="2000" dirty="0">
                <a:effectLst/>
                <a:latin typeface="Times New Roman" panose="02020603050405020304" pitchFamily="18" charset="0"/>
                <a:ea typeface="Times New Roman" panose="02020603050405020304" pitchFamily="18" charset="0"/>
              </a:rPr>
              <a:t> for storing anomaly data and logs.</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6. </a:t>
            </a:r>
            <a:r>
              <a:rPr lang="en-US" sz="2000" b="1" dirty="0">
                <a:effectLst/>
                <a:latin typeface="Times New Roman" panose="02020603050405020304" pitchFamily="18" charset="0"/>
                <a:ea typeface="Times New Roman" panose="02020603050405020304" pitchFamily="18" charset="0"/>
              </a:rPr>
              <a:t>Alert System:</a:t>
            </a:r>
            <a:r>
              <a:rPr lang="en-US" sz="2000" dirty="0">
                <a:effectLst/>
                <a:latin typeface="Times New Roman" panose="02020603050405020304" pitchFamily="18" charset="0"/>
                <a:ea typeface="Times New Roman" panose="02020603050405020304" pitchFamily="18" charset="0"/>
              </a:rPr>
              <a:t> </a:t>
            </a:r>
          </a:p>
          <a:p>
            <a:r>
              <a:rPr lang="en-US" sz="2000" dirty="0">
                <a:effectLst/>
                <a:latin typeface="Times New Roman" panose="02020603050405020304" pitchFamily="18" charset="0"/>
                <a:ea typeface="Times New Roman" panose="02020603050405020304" pitchFamily="18" charset="0"/>
              </a:rPr>
              <a:t>    - </a:t>
            </a:r>
            <a:r>
              <a:rPr lang="en-US" sz="2000" b="1" dirty="0">
                <a:effectLst/>
                <a:latin typeface="Times New Roman" panose="02020603050405020304" pitchFamily="18" charset="0"/>
                <a:ea typeface="Times New Roman" panose="02020603050405020304" pitchFamily="18" charset="0"/>
              </a:rPr>
              <a:t>Twilio API</a:t>
            </a:r>
            <a:r>
              <a:rPr lang="en-US" sz="2000" dirty="0">
                <a:effectLst/>
                <a:latin typeface="Times New Roman" panose="02020603050405020304" pitchFamily="18" charset="0"/>
                <a:ea typeface="Times New Roman" panose="02020603050405020304" pitchFamily="18" charset="0"/>
              </a:rPr>
              <a:t> for SMS/Email alerts.   </a:t>
            </a:r>
          </a:p>
          <a:p>
            <a:r>
              <a:rPr lang="en-US" sz="2000" dirty="0">
                <a:effectLst/>
                <a:latin typeface="Times New Roman" panose="02020603050405020304" pitchFamily="18" charset="0"/>
                <a:ea typeface="Times New Roman" panose="02020603050405020304" pitchFamily="18" charset="0"/>
              </a:rPr>
              <a:t>    - </a:t>
            </a:r>
            <a:r>
              <a:rPr lang="en-US" sz="2000" b="1" dirty="0" err="1">
                <a:effectLst/>
                <a:latin typeface="Times New Roman" panose="02020603050405020304" pitchFamily="18" charset="0"/>
                <a:ea typeface="Times New Roman" panose="02020603050405020304" pitchFamily="18" charset="0"/>
              </a:rPr>
              <a:t>WebSockets</a:t>
            </a:r>
            <a:r>
              <a:rPr lang="en-US" sz="2000" dirty="0">
                <a:effectLst/>
                <a:latin typeface="Times New Roman" panose="02020603050405020304" pitchFamily="18" charset="0"/>
                <a:ea typeface="Times New Roman" panose="02020603050405020304" pitchFamily="18" charset="0"/>
              </a:rPr>
              <a:t> for real-time notifications on the portal. </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7. </a:t>
            </a:r>
            <a:r>
              <a:rPr lang="en-US" sz="2000" b="1" dirty="0">
                <a:effectLst/>
                <a:latin typeface="Times New Roman" panose="02020603050405020304" pitchFamily="18" charset="0"/>
                <a:ea typeface="Times New Roman" panose="02020603050405020304" pitchFamily="18" charset="0"/>
              </a:rPr>
              <a:t>Audio Alerts: </a:t>
            </a:r>
            <a:r>
              <a:rPr lang="en-US" sz="200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Python Libraries</a:t>
            </a:r>
            <a:r>
              <a:rPr lang="en-US" sz="2000" dirty="0">
                <a:effectLst/>
                <a:latin typeface="Times New Roman" panose="02020603050405020304" pitchFamily="18" charset="0"/>
                <a:ea typeface="Times New Roman" panose="02020603050405020304" pitchFamily="18" charset="0"/>
              </a:rPr>
              <a:t> for triggering sound notifications. </a:t>
            </a:r>
            <a:endParaRPr lang="en-IN"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8. </a:t>
            </a:r>
            <a:r>
              <a:rPr lang="en-US" sz="2000" b="1" dirty="0">
                <a:effectLst/>
                <a:latin typeface="Times New Roman" panose="02020603050405020304" pitchFamily="18" charset="0"/>
                <a:ea typeface="Times New Roman" panose="02020603050405020304" pitchFamily="18" charset="0"/>
              </a:rPr>
              <a:t>Ambulance Integration:</a:t>
            </a:r>
            <a:r>
              <a:rPr lang="en-US" sz="200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RESTful APIs</a:t>
            </a:r>
            <a:r>
              <a:rPr lang="en-US" sz="2000" dirty="0">
                <a:effectLst/>
                <a:latin typeface="Times New Roman" panose="02020603050405020304" pitchFamily="18" charset="0"/>
                <a:ea typeface="Times New Roman" panose="02020603050405020304" pitchFamily="18" charset="0"/>
              </a:rPr>
              <a:t> for future integration with medical services.</a:t>
            </a:r>
            <a:endParaRPr lang="en-IN" sz="2000" dirty="0">
              <a:effectLst/>
              <a:latin typeface="Times New Roman" panose="02020603050405020304" pitchFamily="18" charset="0"/>
              <a:ea typeface="Times New Roman" panose="02020603050405020304" pitchFamily="18" charset="0"/>
            </a:endParaRPr>
          </a:p>
          <a:p>
            <a:endParaRPr lang="en-IN" sz="2000" dirty="0"/>
          </a:p>
        </p:txBody>
      </p:sp>
      <p:sp>
        <p:nvSpPr>
          <p:cNvPr id="12" name="Rectangle 11">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782A078F-32D4-C99B-5F3A-24FE425A791D}"/>
              </a:ext>
            </a:extLst>
          </p:cNvPr>
          <p:cNvSpPr>
            <a:spLocks noGrp="1"/>
          </p:cNvSpPr>
          <p:nvPr>
            <p:ph type="sldNum" sz="quarter" idx="12"/>
          </p:nvPr>
        </p:nvSpPr>
        <p:spPr>
          <a:xfrm>
            <a:off x="11704320" y="6451877"/>
            <a:ext cx="448056" cy="365125"/>
          </a:xfrm>
        </p:spPr>
        <p:txBody>
          <a:bodyPr>
            <a:normAutofit/>
          </a:bodyPr>
          <a:lstStyle/>
          <a:p>
            <a:pPr>
              <a:spcAft>
                <a:spcPts val="600"/>
              </a:spcAft>
            </a:pPr>
            <a:fld id="{3F87B148-DC85-4EDB-ACA3-100B1D618A48}" type="slidenum">
              <a:rPr lang="en-IN" sz="1100">
                <a:solidFill>
                  <a:srgbClr val="FFFFFF"/>
                </a:solidFill>
              </a:rPr>
              <a:pPr>
                <a:spcAft>
                  <a:spcPts val="600"/>
                </a:spcAft>
              </a:pPr>
              <a:t>4</a:t>
            </a:fld>
            <a:endParaRPr lang="en-IN" sz="1100">
              <a:solidFill>
                <a:srgbClr val="FFFFFF"/>
              </a:solidFill>
            </a:endParaRPr>
          </a:p>
        </p:txBody>
      </p:sp>
    </p:spTree>
    <p:extLst>
      <p:ext uri="{BB962C8B-B14F-4D97-AF65-F5344CB8AC3E}">
        <p14:creationId xmlns:p14="http://schemas.microsoft.com/office/powerpoint/2010/main" val="337596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83B69E-B5BD-0D7E-9B15-D6BC194946C6}"/>
              </a:ext>
            </a:extLst>
          </p:cNvPr>
          <p:cNvSpPr>
            <a:spLocks noGrp="1"/>
          </p:cNvSpPr>
          <p:nvPr>
            <p:ph type="title"/>
          </p:nvPr>
        </p:nvSpPr>
        <p:spPr>
          <a:xfrm>
            <a:off x="780885" y="1655485"/>
            <a:ext cx="4047148" cy="822540"/>
          </a:xfrm>
        </p:spPr>
        <p:txBody>
          <a:bodyPr anchor="t">
            <a:normAutofit/>
          </a:bodyPr>
          <a:lstStyle/>
          <a:p>
            <a:pPr algn="r"/>
            <a:r>
              <a:rPr lang="en-IN" sz="4000" dirty="0"/>
              <a:t>Literature Survey	</a:t>
            </a:r>
          </a:p>
        </p:txBody>
      </p:sp>
      <p:pic>
        <p:nvPicPr>
          <p:cNvPr id="5" name="Picture 4">
            <a:extLst>
              <a:ext uri="{FF2B5EF4-FFF2-40B4-BE49-F238E27FC236}">
                <a16:creationId xmlns:a16="http://schemas.microsoft.com/office/drawing/2014/main" id="{B0197736-F104-F840-31E7-9B18F5C684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3242" y="256828"/>
            <a:ext cx="11139778" cy="1141828"/>
          </a:xfrm>
          <a:prstGeom prst="rect">
            <a:avLst/>
          </a:prstGeom>
        </p:spPr>
      </p:pic>
      <p:sp>
        <p:nvSpPr>
          <p:cNvPr id="3" name="Content Placeholder 2">
            <a:extLst>
              <a:ext uri="{FF2B5EF4-FFF2-40B4-BE49-F238E27FC236}">
                <a16:creationId xmlns:a16="http://schemas.microsoft.com/office/drawing/2014/main" id="{4C01EA55-2671-1ED1-6C8C-4C1D7BA6AE89}"/>
              </a:ext>
            </a:extLst>
          </p:cNvPr>
          <p:cNvSpPr>
            <a:spLocks noGrp="1"/>
          </p:cNvSpPr>
          <p:nvPr>
            <p:ph idx="1"/>
          </p:nvPr>
        </p:nvSpPr>
        <p:spPr>
          <a:xfrm>
            <a:off x="5327752" y="1655485"/>
            <a:ext cx="6235268" cy="1800164"/>
          </a:xfrm>
        </p:spPr>
        <p:txBody>
          <a:bodyPr anchor="t">
            <a:normAutofit/>
          </a:bodyPr>
          <a:lstStyle/>
          <a:p>
            <a:pPr marL="0" indent="0">
              <a:buNone/>
            </a:pPr>
            <a:endParaRPr lang="en-IN" sz="1300" dirty="0"/>
          </a:p>
        </p:txBody>
      </p:sp>
      <p:sp>
        <p:nvSpPr>
          <p:cNvPr id="12" name="Rectangle 11">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4EE13E28-6107-F3AD-0189-17F76A75BCC0}"/>
              </a:ext>
            </a:extLst>
          </p:cNvPr>
          <p:cNvSpPr>
            <a:spLocks noGrp="1"/>
          </p:cNvSpPr>
          <p:nvPr>
            <p:ph type="sldNum" sz="quarter" idx="12"/>
          </p:nvPr>
        </p:nvSpPr>
        <p:spPr>
          <a:xfrm>
            <a:off x="11704320" y="6451877"/>
            <a:ext cx="448056" cy="365125"/>
          </a:xfrm>
        </p:spPr>
        <p:txBody>
          <a:bodyPr>
            <a:normAutofit/>
          </a:bodyPr>
          <a:lstStyle/>
          <a:p>
            <a:pPr>
              <a:spcAft>
                <a:spcPts val="600"/>
              </a:spcAft>
            </a:pPr>
            <a:fld id="{3F87B148-DC85-4EDB-ACA3-100B1D618A48}" type="slidenum">
              <a:rPr lang="en-IN" sz="1100">
                <a:solidFill>
                  <a:srgbClr val="FFFFFF"/>
                </a:solidFill>
              </a:rPr>
              <a:pPr>
                <a:spcAft>
                  <a:spcPts val="600"/>
                </a:spcAft>
              </a:pPr>
              <a:t>5</a:t>
            </a:fld>
            <a:endParaRPr lang="en-IN" sz="1100">
              <a:solidFill>
                <a:srgbClr val="FFFFFF"/>
              </a:solidFill>
            </a:endParaRPr>
          </a:p>
        </p:txBody>
      </p:sp>
      <p:graphicFrame>
        <p:nvGraphicFramePr>
          <p:cNvPr id="6" name="Table 5">
            <a:extLst>
              <a:ext uri="{FF2B5EF4-FFF2-40B4-BE49-F238E27FC236}">
                <a16:creationId xmlns:a16="http://schemas.microsoft.com/office/drawing/2014/main" id="{2BC1BC6F-6747-B6CB-81BC-CE846C923E24}"/>
              </a:ext>
            </a:extLst>
          </p:cNvPr>
          <p:cNvGraphicFramePr>
            <a:graphicFrameLocks noGrp="1"/>
          </p:cNvGraphicFramePr>
          <p:nvPr>
            <p:extLst>
              <p:ext uri="{D42A27DB-BD31-4B8C-83A1-F6EECF244321}">
                <p14:modId xmlns:p14="http://schemas.microsoft.com/office/powerpoint/2010/main" val="1329703621"/>
              </p:ext>
            </p:extLst>
          </p:nvPr>
        </p:nvGraphicFramePr>
        <p:xfrm>
          <a:off x="150942" y="1444417"/>
          <a:ext cx="11880636" cy="5415232"/>
        </p:xfrm>
        <a:graphic>
          <a:graphicData uri="http://schemas.openxmlformats.org/drawingml/2006/table">
            <a:tbl>
              <a:tblPr firstRow="1" bandRow="1">
                <a:tableStyleId>{5C22544A-7EE6-4342-B048-85BDC9FD1C3A}</a:tableStyleId>
              </a:tblPr>
              <a:tblGrid>
                <a:gridCol w="2043609">
                  <a:extLst>
                    <a:ext uri="{9D8B030D-6E8A-4147-A177-3AD203B41FA5}">
                      <a16:colId xmlns:a16="http://schemas.microsoft.com/office/drawing/2014/main" val="1674395634"/>
                    </a:ext>
                  </a:extLst>
                </a:gridCol>
                <a:gridCol w="1590460">
                  <a:extLst>
                    <a:ext uri="{9D8B030D-6E8A-4147-A177-3AD203B41FA5}">
                      <a16:colId xmlns:a16="http://schemas.microsoft.com/office/drawing/2014/main" val="130753683"/>
                    </a:ext>
                  </a:extLst>
                </a:gridCol>
                <a:gridCol w="1700909">
                  <a:extLst>
                    <a:ext uri="{9D8B030D-6E8A-4147-A177-3AD203B41FA5}">
                      <a16:colId xmlns:a16="http://schemas.microsoft.com/office/drawing/2014/main" val="1388915972"/>
                    </a:ext>
                  </a:extLst>
                </a:gridCol>
                <a:gridCol w="1745087">
                  <a:extLst>
                    <a:ext uri="{9D8B030D-6E8A-4147-A177-3AD203B41FA5}">
                      <a16:colId xmlns:a16="http://schemas.microsoft.com/office/drawing/2014/main" val="4237191707"/>
                    </a:ext>
                  </a:extLst>
                </a:gridCol>
                <a:gridCol w="4800571">
                  <a:extLst>
                    <a:ext uri="{9D8B030D-6E8A-4147-A177-3AD203B41FA5}">
                      <a16:colId xmlns:a16="http://schemas.microsoft.com/office/drawing/2014/main" val="1017062192"/>
                    </a:ext>
                  </a:extLst>
                </a:gridCol>
              </a:tblGrid>
              <a:tr h="625153">
                <a:tc>
                  <a:txBody>
                    <a:bodyPr/>
                    <a:lstStyle/>
                    <a:p>
                      <a:r>
                        <a:rPr lang="en-IN" dirty="0"/>
                        <a:t>Paper Title</a:t>
                      </a:r>
                    </a:p>
                  </a:txBody>
                  <a:tcPr/>
                </a:tc>
                <a:tc>
                  <a:txBody>
                    <a:bodyPr/>
                    <a:lstStyle/>
                    <a:p>
                      <a:r>
                        <a:rPr lang="en-IN" dirty="0"/>
                        <a:t>Author name</a:t>
                      </a:r>
                    </a:p>
                  </a:txBody>
                  <a:tcPr/>
                </a:tc>
                <a:tc>
                  <a:txBody>
                    <a:bodyPr/>
                    <a:lstStyle/>
                    <a:p>
                      <a:r>
                        <a:rPr lang="en-IN" dirty="0"/>
                        <a:t>Journal name</a:t>
                      </a:r>
                    </a:p>
                  </a:txBody>
                  <a:tcPr/>
                </a:tc>
                <a:tc>
                  <a:txBody>
                    <a:bodyPr/>
                    <a:lstStyle/>
                    <a:p>
                      <a:r>
                        <a:rPr lang="en-IN" dirty="0"/>
                        <a:t>Year of publishing</a:t>
                      </a:r>
                    </a:p>
                  </a:txBody>
                  <a:tcPr/>
                </a:tc>
                <a:tc>
                  <a:txBody>
                    <a:bodyPr/>
                    <a:lstStyle/>
                    <a:p>
                      <a:r>
                        <a:rPr lang="en-IN" dirty="0"/>
                        <a:t>Summary</a:t>
                      </a:r>
                    </a:p>
                  </a:txBody>
                  <a:tcPr/>
                </a:tc>
                <a:extLst>
                  <a:ext uri="{0D108BD9-81ED-4DB2-BD59-A6C34878D82A}">
                    <a16:rowId xmlns:a16="http://schemas.microsoft.com/office/drawing/2014/main" val="438737213"/>
                  </a:ext>
                </a:extLst>
              </a:tr>
              <a:tr h="1500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dirty="0">
                          <a:solidFill>
                            <a:schemeClr val="dk1"/>
                          </a:solidFill>
                          <a:effectLst/>
                          <a:latin typeface="+mn-lt"/>
                          <a:ea typeface="+mn-ea"/>
                          <a:cs typeface="+mn-cs"/>
                        </a:rPr>
                        <a:t>A Review on Deep Learning Techniques for</a:t>
                      </a:r>
                      <a:br>
                        <a:rPr lang="en-US" sz="1050" b="1" kern="1200" dirty="0">
                          <a:solidFill>
                            <a:schemeClr val="dk1"/>
                          </a:solidFill>
                          <a:effectLst/>
                          <a:latin typeface="+mn-lt"/>
                          <a:ea typeface="+mn-ea"/>
                          <a:cs typeface="+mn-cs"/>
                        </a:rPr>
                      </a:br>
                      <a:r>
                        <a:rPr lang="en-US" sz="1050" b="1" kern="1200" dirty="0">
                          <a:solidFill>
                            <a:schemeClr val="dk1"/>
                          </a:solidFill>
                          <a:effectLst/>
                          <a:latin typeface="+mn-lt"/>
                          <a:ea typeface="+mn-ea"/>
                          <a:cs typeface="+mn-cs"/>
                        </a:rPr>
                        <a:t>Railway Infrastructure Monitoring</a:t>
                      </a:r>
                      <a:endParaRPr lang="en-IN" sz="1050" kern="1200" dirty="0">
                        <a:solidFill>
                          <a:schemeClr val="dk1"/>
                        </a:solidFill>
                        <a:effectLst/>
                        <a:latin typeface="+mn-lt"/>
                        <a:ea typeface="+mn-ea"/>
                        <a:cs typeface="+mn-cs"/>
                      </a:endParaRPr>
                    </a:p>
                    <a:p>
                      <a:endParaRPr lang="en-IN" sz="1600" dirty="0"/>
                    </a:p>
                  </a:txBody>
                  <a:tcPr/>
                </a:tc>
                <a:tc>
                  <a:txBody>
                    <a:bodyPr/>
                    <a:lstStyle/>
                    <a:p>
                      <a:r>
                        <a:rPr lang="en-US" sz="1100" kern="1200" dirty="0">
                          <a:solidFill>
                            <a:schemeClr val="dk1"/>
                          </a:solidFill>
                          <a:effectLst/>
                          <a:latin typeface="+mn-lt"/>
                          <a:ea typeface="+mn-ea"/>
                          <a:cs typeface="+mn-cs"/>
                        </a:rPr>
                        <a:t>Maria Di Summa, Maria Elena </a:t>
                      </a:r>
                      <a:r>
                        <a:rPr lang="en-US" sz="1100" kern="1200" dirty="0" err="1">
                          <a:solidFill>
                            <a:schemeClr val="dk1"/>
                          </a:solidFill>
                          <a:effectLst/>
                          <a:latin typeface="+mn-lt"/>
                          <a:ea typeface="+mn-ea"/>
                          <a:cs typeface="+mn-cs"/>
                        </a:rPr>
                        <a:t>Griseta</a:t>
                      </a:r>
                      <a:r>
                        <a:rPr lang="en-US" sz="1100" kern="1200" dirty="0">
                          <a:solidFill>
                            <a:schemeClr val="dk1"/>
                          </a:solidFill>
                          <a:effectLst/>
                          <a:latin typeface="+mn-lt"/>
                          <a:ea typeface="+mn-ea"/>
                          <a:cs typeface="+mn-cs"/>
                        </a:rPr>
                        <a:t> , Nicola </a:t>
                      </a:r>
                      <a:r>
                        <a:rPr lang="en-US" sz="1100" kern="1200" dirty="0" err="1">
                          <a:solidFill>
                            <a:schemeClr val="dk1"/>
                          </a:solidFill>
                          <a:effectLst/>
                          <a:latin typeface="+mn-lt"/>
                          <a:ea typeface="+mn-ea"/>
                          <a:cs typeface="+mn-cs"/>
                        </a:rPr>
                        <a:t>Mosca</a:t>
                      </a:r>
                      <a:r>
                        <a:rPr lang="en-US" sz="1100" kern="1200" dirty="0">
                          <a:solidFill>
                            <a:schemeClr val="dk1"/>
                          </a:solidFill>
                          <a:effectLst/>
                          <a:latin typeface="+mn-lt"/>
                          <a:ea typeface="+mn-ea"/>
                          <a:cs typeface="+mn-cs"/>
                        </a:rPr>
                        <a:t> , Cosimo </a:t>
                      </a:r>
                      <a:r>
                        <a:rPr lang="en-US" sz="1100" kern="1200" dirty="0" err="1">
                          <a:solidFill>
                            <a:schemeClr val="dk1"/>
                          </a:solidFill>
                          <a:effectLst/>
                          <a:latin typeface="+mn-lt"/>
                          <a:ea typeface="+mn-ea"/>
                          <a:cs typeface="+mn-cs"/>
                        </a:rPr>
                        <a:t>Patruno</a:t>
                      </a:r>
                      <a:endParaRPr lang="en-IN" sz="1050" dirty="0"/>
                    </a:p>
                  </a:txBody>
                  <a:tcPr/>
                </a:tc>
                <a:tc>
                  <a:txBody>
                    <a:bodyPr/>
                    <a:lstStyle/>
                    <a:p>
                      <a:r>
                        <a:rPr lang="en-IN" sz="1100" dirty="0"/>
                        <a:t>IEEE Access</a:t>
                      </a:r>
                    </a:p>
                  </a:txBody>
                  <a:tcPr/>
                </a:tc>
                <a:tc>
                  <a:txBody>
                    <a:bodyPr/>
                    <a:lstStyle/>
                    <a:p>
                      <a:r>
                        <a:rPr lang="en-IN" sz="1100" dirty="0"/>
                        <a:t>2020</a:t>
                      </a:r>
                    </a:p>
                  </a:txBody>
                  <a:tcPr/>
                </a:tc>
                <a:tc>
                  <a:txBody>
                    <a:bodyPr/>
                    <a:lstStyle/>
                    <a:p>
                      <a:r>
                        <a:rPr lang="en-US" sz="1050" kern="1200" dirty="0">
                          <a:solidFill>
                            <a:schemeClr val="dk1"/>
                          </a:solidFill>
                          <a:effectLst/>
                          <a:latin typeface="+mn-lt"/>
                          <a:ea typeface="+mn-ea"/>
                          <a:cs typeface="+mn-cs"/>
                        </a:rPr>
                        <a:t>The research paper titled "A Review on Deep Learning Techniques for Railway Infrastructure Monitoring" provides a comprehensive overview of the application of deep learning (DL) methods in monitoring railway infrastructure for preventive maintenance. The authors emphasize the dual nature of deep learning's feature extraction capabilities, which, while powerful, can also create challenges due to their "black box" nature</a:t>
                      </a:r>
                      <a:r>
                        <a:rPr lang="en-US" sz="1800" kern="1200" dirty="0">
                          <a:solidFill>
                            <a:schemeClr val="dk1"/>
                          </a:solidFill>
                          <a:effectLst/>
                          <a:latin typeface="+mn-lt"/>
                          <a:ea typeface="+mn-ea"/>
                          <a:cs typeface="+mn-cs"/>
                        </a:rPr>
                        <a:t>. </a:t>
                      </a:r>
                      <a:endParaRPr lang="en-IN" sz="1600" dirty="0"/>
                    </a:p>
                  </a:txBody>
                  <a:tcPr/>
                </a:tc>
                <a:extLst>
                  <a:ext uri="{0D108BD9-81ED-4DB2-BD59-A6C34878D82A}">
                    <a16:rowId xmlns:a16="http://schemas.microsoft.com/office/drawing/2014/main" val="997661757"/>
                  </a:ext>
                </a:extLst>
              </a:tr>
              <a:tr h="8707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i="0" kern="1200" dirty="0">
                          <a:solidFill>
                            <a:schemeClr val="dk1"/>
                          </a:solidFill>
                          <a:effectLst/>
                          <a:latin typeface="+mn-lt"/>
                          <a:ea typeface="+mn-ea"/>
                          <a:cs typeface="+mn-cs"/>
                        </a:rPr>
                        <a:t>Rail Track Monitoring Using AI and Machine Learning</a:t>
                      </a:r>
                    </a:p>
                    <a:p>
                      <a:endParaRPr lang="en-IN" sz="1600" dirty="0"/>
                    </a:p>
                  </a:txBody>
                  <a:tcPr/>
                </a:tc>
                <a:tc>
                  <a:txBody>
                    <a:bodyPr/>
                    <a:lstStyle/>
                    <a:p>
                      <a:r>
                        <a:rPr lang="en-US" sz="1100" kern="1200" dirty="0">
                          <a:solidFill>
                            <a:schemeClr val="dk1"/>
                          </a:solidFill>
                          <a:effectLst/>
                          <a:latin typeface="+mn-lt"/>
                          <a:ea typeface="+mn-ea"/>
                          <a:cs typeface="+mn-cs"/>
                        </a:rPr>
                        <a:t>Konstantin Popov, Robert </a:t>
                      </a:r>
                      <a:r>
                        <a:rPr lang="en-US" sz="1100" kern="1200" dirty="0" err="1">
                          <a:solidFill>
                            <a:schemeClr val="dk1"/>
                          </a:solidFill>
                          <a:effectLst/>
                          <a:latin typeface="+mn-lt"/>
                          <a:ea typeface="+mn-ea"/>
                          <a:cs typeface="+mn-cs"/>
                        </a:rPr>
                        <a:t>DeBold</a:t>
                      </a:r>
                      <a:r>
                        <a:rPr lang="en-US" sz="1100" kern="1200" dirty="0">
                          <a:solidFill>
                            <a:schemeClr val="dk1"/>
                          </a:solidFill>
                          <a:effectLst/>
                          <a:latin typeface="+mn-lt"/>
                          <a:ea typeface="+mn-ea"/>
                          <a:cs typeface="+mn-cs"/>
                        </a:rPr>
                        <a:t>, Hwa Kian Chai</a:t>
                      </a:r>
                      <a:endParaRPr lang="en-IN"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kern="1200" dirty="0">
                          <a:solidFill>
                            <a:schemeClr val="dk1"/>
                          </a:solidFill>
                          <a:effectLst/>
                          <a:latin typeface="+mn-lt"/>
                          <a:ea typeface="+mn-ea"/>
                          <a:cs typeface="+mn-cs"/>
                        </a:rPr>
                        <a:t>Trends on Construction in the Digital Era</a:t>
                      </a:r>
                    </a:p>
                    <a:p>
                      <a:endParaRPr lang="en-IN" sz="1600" dirty="0"/>
                    </a:p>
                  </a:txBody>
                  <a:tcPr/>
                </a:tc>
                <a:tc>
                  <a:txBody>
                    <a:bodyPr/>
                    <a:lstStyle/>
                    <a:p>
                      <a:r>
                        <a:rPr lang="en-IN" sz="1100" dirty="0"/>
                        <a:t>2022</a:t>
                      </a:r>
                    </a:p>
                  </a:txBody>
                  <a:tcPr/>
                </a:tc>
                <a:tc>
                  <a:txBody>
                    <a:bodyPr/>
                    <a:lstStyle/>
                    <a:p>
                      <a:r>
                        <a:rPr lang="en-US" sz="1050" kern="1200" dirty="0">
                          <a:solidFill>
                            <a:schemeClr val="dk1"/>
                          </a:solidFill>
                          <a:effectLst/>
                          <a:latin typeface="+mn-lt"/>
                          <a:ea typeface="+mn-ea"/>
                          <a:cs typeface="+mn-cs"/>
                        </a:rPr>
                        <a:t>The authors conclude the book by illustrating a vision for the future of railway monitoring systems by claiming science and technology to triumph with challenges proper monitoring will pose and demanding a better business case for general instrumentation of railway lines and demonstrating the effectiveness of new systems</a:t>
                      </a:r>
                      <a:endParaRPr lang="en-IN" sz="1000" dirty="0"/>
                    </a:p>
                  </a:txBody>
                  <a:tcPr/>
                </a:tc>
                <a:extLst>
                  <a:ext uri="{0D108BD9-81ED-4DB2-BD59-A6C34878D82A}">
                    <a16:rowId xmlns:a16="http://schemas.microsoft.com/office/drawing/2014/main" val="2438489603"/>
                  </a:ext>
                </a:extLst>
              </a:tr>
              <a:tr h="12153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kern="1200" dirty="0">
                          <a:solidFill>
                            <a:schemeClr val="dk1"/>
                          </a:solidFill>
                          <a:effectLst/>
                          <a:latin typeface="+mn-lt"/>
                          <a:ea typeface="+mn-ea"/>
                          <a:cs typeface="+mn-cs"/>
                        </a:rPr>
                        <a:t>Crowd Detection and Analysis for Surveillance Videos using Deep Learning</a:t>
                      </a:r>
                    </a:p>
                    <a:p>
                      <a:endParaRPr lang="en-IN" sz="1100" dirty="0"/>
                    </a:p>
                  </a:txBody>
                  <a:tcPr/>
                </a:tc>
                <a:tc>
                  <a:txBody>
                    <a:bodyPr/>
                    <a:lstStyle/>
                    <a:p>
                      <a:r>
                        <a:rPr lang="en-IN" sz="1100" b="0" i="0" u="none" strike="noStrik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Aman Ahmed</a:t>
                      </a:r>
                      <a:r>
                        <a:rPr lang="en-IN" sz="1100" b="0" i="0" u="none" kern="1200" dirty="0">
                          <a:solidFill>
                            <a:schemeClr val="tx1"/>
                          </a:solidFill>
                          <a:effectLst/>
                          <a:latin typeface="+mn-lt"/>
                          <a:ea typeface="+mn-ea"/>
                          <a:cs typeface="+mn-cs"/>
                        </a:rPr>
                        <a:t>; </a:t>
                      </a:r>
                      <a:r>
                        <a:rPr lang="en-IN" sz="1100" b="0" i="0" u="none" strike="noStrike" kern="1200" dirty="0">
                          <a:solidFill>
                            <a:schemeClr val="tx1"/>
                          </a:solidFill>
                          <a:effectLst/>
                          <a:latin typeface="+mn-lt"/>
                          <a:ea typeface="+mn-ea"/>
                          <a:cs typeface="+mn-cs"/>
                          <a:hlinkClick r:id="rId4">
                            <a:extLst>
                              <a:ext uri="{A12FA001-AC4F-418D-AE19-62706E023703}">
                                <ahyp:hlinkClr xmlns:ahyp="http://schemas.microsoft.com/office/drawing/2018/hyperlinkcolor" val="tx"/>
                              </a:ext>
                            </a:extLst>
                          </a:hlinkClick>
                        </a:rPr>
                        <a:t>Prateek Bansal</a:t>
                      </a:r>
                      <a:r>
                        <a:rPr lang="en-IN" sz="1100" b="0" i="0" u="none" kern="1200" dirty="0">
                          <a:solidFill>
                            <a:schemeClr val="tx1"/>
                          </a:solidFill>
                          <a:effectLst/>
                          <a:latin typeface="+mn-lt"/>
                          <a:ea typeface="+mn-ea"/>
                          <a:cs typeface="+mn-cs"/>
                        </a:rPr>
                        <a:t>; </a:t>
                      </a:r>
                      <a:r>
                        <a:rPr lang="en-IN" sz="1100" b="0" i="0" u="none" strike="noStrike" kern="1200" dirty="0">
                          <a:solidFill>
                            <a:schemeClr val="tx1"/>
                          </a:solidFill>
                          <a:effectLst/>
                          <a:latin typeface="+mn-lt"/>
                          <a:ea typeface="+mn-ea"/>
                          <a:cs typeface="+mn-cs"/>
                          <a:hlinkClick r:id="rId5">
                            <a:extLst>
                              <a:ext uri="{A12FA001-AC4F-418D-AE19-62706E023703}">
                                <ahyp:hlinkClr xmlns:ahyp="http://schemas.microsoft.com/office/drawing/2018/hyperlinkcolor" val="tx"/>
                              </a:ext>
                            </a:extLst>
                          </a:hlinkClick>
                        </a:rPr>
                        <a:t>Atiya Khan</a:t>
                      </a:r>
                      <a:r>
                        <a:rPr lang="en-IN" sz="1100" b="0" i="0" u="none" kern="1200" dirty="0">
                          <a:solidFill>
                            <a:schemeClr val="tx1"/>
                          </a:solidFill>
                          <a:effectLst/>
                          <a:latin typeface="+mn-lt"/>
                          <a:ea typeface="+mn-ea"/>
                          <a:cs typeface="+mn-cs"/>
                        </a:rPr>
                        <a:t>; </a:t>
                      </a:r>
                      <a:r>
                        <a:rPr lang="en-IN" sz="1100" b="0" i="0" u="none" strike="noStrike" kern="1200" dirty="0">
                          <a:solidFill>
                            <a:schemeClr val="tx1"/>
                          </a:solidFill>
                          <a:effectLst/>
                          <a:latin typeface="+mn-lt"/>
                          <a:ea typeface="+mn-ea"/>
                          <a:cs typeface="+mn-cs"/>
                          <a:hlinkClick r:id="rId6">
                            <a:extLst>
                              <a:ext uri="{A12FA001-AC4F-418D-AE19-62706E023703}">
                                <ahyp:hlinkClr xmlns:ahyp="http://schemas.microsoft.com/office/drawing/2018/hyperlinkcolor" val="tx"/>
                              </a:ext>
                            </a:extLst>
                          </a:hlinkClick>
                        </a:rPr>
                        <a:t>Neha Purohit</a:t>
                      </a:r>
                      <a:endParaRPr lang="en-IN" sz="800" u="none" dirty="0">
                        <a:solidFill>
                          <a:schemeClr val="tx1"/>
                        </a:solidFill>
                      </a:endParaRPr>
                    </a:p>
                  </a:txBody>
                  <a:tcPr/>
                </a:tc>
                <a:tc>
                  <a:txBody>
                    <a:bodyPr/>
                    <a:lstStyle/>
                    <a:p>
                      <a:r>
                        <a:rPr lang="en-IN" sz="1100" dirty="0"/>
                        <a:t>ICESC</a:t>
                      </a:r>
                    </a:p>
                  </a:txBody>
                  <a:tcPr/>
                </a:tc>
                <a:tc>
                  <a:txBody>
                    <a:bodyPr/>
                    <a:lstStyle/>
                    <a:p>
                      <a:r>
                        <a:rPr lang="en-IN" sz="1100" dirty="0"/>
                        <a:t>2020</a:t>
                      </a:r>
                    </a:p>
                  </a:txBody>
                  <a:tcPr/>
                </a:tc>
                <a:tc>
                  <a:txBody>
                    <a:bodyPr/>
                    <a:lstStyle/>
                    <a:p>
                      <a:r>
                        <a:rPr lang="en-US" sz="1050" kern="1200" dirty="0">
                          <a:solidFill>
                            <a:schemeClr val="dk1"/>
                          </a:solidFill>
                          <a:effectLst/>
                          <a:latin typeface="+mn-lt"/>
                          <a:ea typeface="+mn-ea"/>
                          <a:cs typeface="+mn-cs"/>
                        </a:rPr>
                        <a:t>A new approach has been proposed for the research paper by the use of CNN and MRF for counting people in still images. The authors devised a technique that can bypass the crowd density estimation defects. That was achieved by dividing its image into overlapping patches. This gives crowds more uniformity in smaller areas, so the accuracy of the local crowd counts is higher</a:t>
                      </a:r>
                      <a:endParaRPr lang="en-IN" sz="700" dirty="0"/>
                    </a:p>
                  </a:txBody>
                  <a:tcPr/>
                </a:tc>
                <a:extLst>
                  <a:ext uri="{0D108BD9-81ED-4DB2-BD59-A6C34878D82A}">
                    <a16:rowId xmlns:a16="http://schemas.microsoft.com/office/drawing/2014/main" val="161121231"/>
                  </a:ext>
                </a:extLst>
              </a:tr>
              <a:tr h="9079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dirty="0">
                          <a:solidFill>
                            <a:schemeClr val="dk1"/>
                          </a:solidFill>
                          <a:effectLst/>
                          <a:latin typeface="+mn-lt"/>
                          <a:ea typeface="+mn-ea"/>
                          <a:cs typeface="+mn-cs"/>
                        </a:rPr>
                        <a:t>Anomaly detection based on Artificial Intelligence of Things: A Systematic Literature Mapping</a:t>
                      </a:r>
                      <a:endParaRPr lang="en-IN" sz="1100" kern="1200" dirty="0">
                        <a:solidFill>
                          <a:schemeClr val="dk1"/>
                        </a:solidFill>
                        <a:effectLst/>
                        <a:latin typeface="+mn-lt"/>
                        <a:ea typeface="+mn-ea"/>
                        <a:cs typeface="+mn-cs"/>
                      </a:endParaRPr>
                    </a:p>
                    <a:p>
                      <a:endParaRPr lang="en-IN" sz="1100" dirty="0"/>
                    </a:p>
                  </a:txBody>
                  <a:tcPr/>
                </a:tc>
                <a:tc>
                  <a:txBody>
                    <a:bodyPr/>
                    <a:lstStyle/>
                    <a:p>
                      <a:r>
                        <a:rPr lang="en-IN" sz="1100" dirty="0"/>
                        <a:t>HC chug, FS Dwell, G.J Kyan</a:t>
                      </a:r>
                    </a:p>
                  </a:txBody>
                  <a:tcPr/>
                </a:tc>
                <a:tc>
                  <a:txBody>
                    <a:bodyPr/>
                    <a:lstStyle/>
                    <a:p>
                      <a:r>
                        <a:rPr lang="en-IN" sz="1100" dirty="0"/>
                        <a:t>ICESC</a:t>
                      </a:r>
                    </a:p>
                  </a:txBody>
                  <a:tcPr/>
                </a:tc>
                <a:tc>
                  <a:txBody>
                    <a:bodyPr/>
                    <a:lstStyle/>
                    <a:p>
                      <a:r>
                        <a:rPr lang="en-IN" sz="1100" dirty="0"/>
                        <a:t>2022</a:t>
                      </a:r>
                    </a:p>
                  </a:txBody>
                  <a:tcPr/>
                </a:tc>
                <a:tc>
                  <a:txBody>
                    <a:bodyPr/>
                    <a:lstStyle/>
                    <a:p>
                      <a:r>
                        <a:rPr lang="en-US" sz="1050" kern="1200" dirty="0">
                          <a:solidFill>
                            <a:schemeClr val="dk1"/>
                          </a:solidFill>
                          <a:effectLst/>
                          <a:latin typeface="+mn-lt"/>
                          <a:ea typeface="+mn-ea"/>
                          <a:cs typeface="+mn-cs"/>
                        </a:rPr>
                        <a:t>The research paper entitled "</a:t>
                      </a:r>
                      <a:r>
                        <a:rPr lang="en-US" sz="1050" b="1" kern="1200" dirty="0">
                          <a:solidFill>
                            <a:schemeClr val="dk1"/>
                          </a:solidFill>
                          <a:effectLst/>
                          <a:latin typeface="+mn-lt"/>
                          <a:ea typeface="+mn-ea"/>
                          <a:cs typeface="+mn-cs"/>
                        </a:rPr>
                        <a:t>Anomaly detection based on Artificial Intelligence of Things: A Systematic Literature Mapping</a:t>
                      </a:r>
                      <a:r>
                        <a:rPr lang="en-US" sz="1050" kern="1200" dirty="0">
                          <a:solidFill>
                            <a:schemeClr val="dk1"/>
                          </a:solidFill>
                          <a:effectLst/>
                          <a:latin typeface="+mn-lt"/>
                          <a:ea typeface="+mn-ea"/>
                          <a:cs typeface="+mn-cs"/>
                        </a:rPr>
                        <a:t>" encompasses </a:t>
                      </a:r>
                      <a:r>
                        <a:rPr lang="en-US" sz="1050" kern="1200" dirty="0" err="1">
                          <a:solidFill>
                            <a:schemeClr val="dk1"/>
                          </a:solidFill>
                          <a:effectLst/>
                          <a:latin typeface="+mn-lt"/>
                          <a:ea typeface="+mn-ea"/>
                          <a:cs typeface="+mn-cs"/>
                        </a:rPr>
                        <a:t>AIoT</a:t>
                      </a:r>
                      <a:r>
                        <a:rPr lang="en-US" sz="1050" kern="1200" dirty="0">
                          <a:solidFill>
                            <a:schemeClr val="dk1"/>
                          </a:solidFill>
                          <a:effectLst/>
                          <a:latin typeface="+mn-lt"/>
                          <a:ea typeface="+mn-ea"/>
                          <a:cs typeface="+mn-cs"/>
                        </a:rPr>
                        <a:t> concepts integrated with EC and </a:t>
                      </a:r>
                      <a:r>
                        <a:rPr lang="en-US" sz="1050" kern="1200" dirty="0" err="1">
                          <a:solidFill>
                            <a:schemeClr val="dk1"/>
                          </a:solidFill>
                          <a:effectLst/>
                          <a:latin typeface="+mn-lt"/>
                          <a:ea typeface="+mn-ea"/>
                          <a:cs typeface="+mn-cs"/>
                        </a:rPr>
                        <a:t>TinyML</a:t>
                      </a:r>
                      <a:r>
                        <a:rPr lang="en-US" sz="1050" kern="1200" dirty="0">
                          <a:solidFill>
                            <a:schemeClr val="dk1"/>
                          </a:solidFill>
                          <a:effectLst/>
                          <a:latin typeface="+mn-lt"/>
                          <a:ea typeface="+mn-ea"/>
                          <a:cs typeface="+mn-cs"/>
                        </a:rPr>
                        <a:t> toward anomaly detection. </a:t>
                      </a:r>
                      <a:endParaRPr lang="en-IN" sz="700" dirty="0"/>
                    </a:p>
                  </a:txBody>
                  <a:tcPr/>
                </a:tc>
                <a:extLst>
                  <a:ext uri="{0D108BD9-81ED-4DB2-BD59-A6C34878D82A}">
                    <a16:rowId xmlns:a16="http://schemas.microsoft.com/office/drawing/2014/main" val="1301747734"/>
                  </a:ext>
                </a:extLst>
              </a:tr>
              <a:tr h="253038">
                <a:tc>
                  <a:txBody>
                    <a:bodyPr/>
                    <a:lstStyle/>
                    <a:p>
                      <a:endParaRPr lang="en-IN" sz="1100" dirty="0"/>
                    </a:p>
                  </a:txBody>
                  <a:tcPr/>
                </a:tc>
                <a:tc>
                  <a:txBody>
                    <a:bodyPr/>
                    <a:lstStyle/>
                    <a:p>
                      <a:endParaRPr lang="en-IN" sz="1100" dirty="0"/>
                    </a:p>
                  </a:txBody>
                  <a:tcPr/>
                </a:tc>
                <a:tc>
                  <a:txBody>
                    <a:bodyPr/>
                    <a:lstStyle/>
                    <a:p>
                      <a:endParaRPr lang="en-IN" sz="1100" dirty="0"/>
                    </a:p>
                  </a:txBody>
                  <a:tcPr/>
                </a:tc>
                <a:tc>
                  <a:txBody>
                    <a:bodyPr/>
                    <a:lstStyle/>
                    <a:p>
                      <a:endParaRPr lang="en-IN" sz="1100" dirty="0"/>
                    </a:p>
                  </a:txBody>
                  <a:tcPr/>
                </a:tc>
                <a:tc>
                  <a:txBody>
                    <a:bodyPr/>
                    <a:lstStyle/>
                    <a:p>
                      <a:endParaRPr lang="en-IN" sz="1100" dirty="0"/>
                    </a:p>
                  </a:txBody>
                  <a:tcPr/>
                </a:tc>
                <a:extLst>
                  <a:ext uri="{0D108BD9-81ED-4DB2-BD59-A6C34878D82A}">
                    <a16:rowId xmlns:a16="http://schemas.microsoft.com/office/drawing/2014/main" val="4026425580"/>
                  </a:ext>
                </a:extLst>
              </a:tr>
            </a:tbl>
          </a:graphicData>
        </a:graphic>
      </p:graphicFrame>
    </p:spTree>
    <p:extLst>
      <p:ext uri="{BB962C8B-B14F-4D97-AF65-F5344CB8AC3E}">
        <p14:creationId xmlns:p14="http://schemas.microsoft.com/office/powerpoint/2010/main" val="1311006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899C9CE5-B130-0EC8-B8B5-AA89DA3F1294}"/>
              </a:ext>
            </a:extLst>
          </p:cNvPr>
          <p:cNvSpPr>
            <a:spLocks noGrp="1"/>
          </p:cNvSpPr>
          <p:nvPr>
            <p:ph type="title"/>
          </p:nvPr>
        </p:nvSpPr>
        <p:spPr>
          <a:xfrm>
            <a:off x="507352" y="1516213"/>
            <a:ext cx="3981854" cy="2216513"/>
          </a:xfrm>
        </p:spPr>
        <p:txBody>
          <a:bodyPr>
            <a:normAutofit/>
          </a:bodyPr>
          <a:lstStyle/>
          <a:p>
            <a:r>
              <a:rPr lang="en-IN" dirty="0"/>
              <a:t>Diagrams</a:t>
            </a:r>
          </a:p>
        </p:txBody>
      </p:sp>
      <p:sp>
        <p:nvSpPr>
          <p:cNvPr id="12" name="Arc 11">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BD5F73A-6FA0-BD2C-5FA9-794C808342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9914" y="136525"/>
            <a:ext cx="10872172" cy="1114398"/>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pic>
        <p:nvPicPr>
          <p:cNvPr id="7" name="Content Placeholder 6">
            <a:extLst>
              <a:ext uri="{FF2B5EF4-FFF2-40B4-BE49-F238E27FC236}">
                <a16:creationId xmlns:a16="http://schemas.microsoft.com/office/drawing/2014/main" id="{D90786EF-7F64-CA45-A8BE-A1FAC019654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778240" y="1516213"/>
            <a:ext cx="1576289" cy="5213885"/>
          </a:xfrm>
        </p:spPr>
      </p:pic>
      <p:sp>
        <p:nvSpPr>
          <p:cNvPr id="4" name="Slide Number Placeholder 3">
            <a:extLst>
              <a:ext uri="{FF2B5EF4-FFF2-40B4-BE49-F238E27FC236}">
                <a16:creationId xmlns:a16="http://schemas.microsoft.com/office/drawing/2014/main" id="{3AEBAD8E-527C-0155-2486-176F266969B7}"/>
              </a:ext>
            </a:extLst>
          </p:cNvPr>
          <p:cNvSpPr>
            <a:spLocks noGrp="1"/>
          </p:cNvSpPr>
          <p:nvPr>
            <p:ph type="sldNum" sz="quarter" idx="12"/>
          </p:nvPr>
        </p:nvSpPr>
        <p:spPr>
          <a:xfrm>
            <a:off x="8610600" y="6356350"/>
            <a:ext cx="2743200" cy="365125"/>
          </a:xfrm>
        </p:spPr>
        <p:txBody>
          <a:bodyPr>
            <a:normAutofit/>
          </a:bodyPr>
          <a:lstStyle/>
          <a:p>
            <a:pPr>
              <a:spcAft>
                <a:spcPts val="600"/>
              </a:spcAft>
            </a:pPr>
            <a:fld id="{3F87B148-DC85-4EDB-ACA3-100B1D618A48}" type="slidenum">
              <a:rPr lang="en-IN" smtClean="0"/>
              <a:pPr>
                <a:spcAft>
                  <a:spcPts val="600"/>
                </a:spcAft>
              </a:pPr>
              <a:t>6</a:t>
            </a:fld>
            <a:endParaRPr lang="en-IN"/>
          </a:p>
        </p:txBody>
      </p:sp>
    </p:spTree>
    <p:extLst>
      <p:ext uri="{BB962C8B-B14F-4D97-AF65-F5344CB8AC3E}">
        <p14:creationId xmlns:p14="http://schemas.microsoft.com/office/powerpoint/2010/main" val="1116752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666D5-C72D-DE4C-4F33-3B7C175A3A20}"/>
              </a:ext>
            </a:extLst>
          </p:cNvPr>
          <p:cNvSpPr>
            <a:spLocks noGrp="1"/>
          </p:cNvSpPr>
          <p:nvPr>
            <p:ph type="title"/>
          </p:nvPr>
        </p:nvSpPr>
        <p:spPr>
          <a:xfrm>
            <a:off x="590550" y="1411664"/>
            <a:ext cx="10515600" cy="1325563"/>
          </a:xfrm>
        </p:spPr>
        <p:txBody>
          <a:bodyPr/>
          <a:lstStyle/>
          <a:p>
            <a:r>
              <a:rPr lang="en-IN" dirty="0"/>
              <a:t>Patent Status</a:t>
            </a:r>
          </a:p>
        </p:txBody>
      </p:sp>
      <p:sp>
        <p:nvSpPr>
          <p:cNvPr id="3" name="Content Placeholder 2">
            <a:extLst>
              <a:ext uri="{FF2B5EF4-FFF2-40B4-BE49-F238E27FC236}">
                <a16:creationId xmlns:a16="http://schemas.microsoft.com/office/drawing/2014/main" id="{0F9B0AAD-8D90-3D7E-4D66-651E410AEB0F}"/>
              </a:ext>
            </a:extLst>
          </p:cNvPr>
          <p:cNvSpPr>
            <a:spLocks noGrp="1"/>
          </p:cNvSpPr>
          <p:nvPr>
            <p:ph idx="1"/>
          </p:nvPr>
        </p:nvSpPr>
        <p:spPr>
          <a:xfrm>
            <a:off x="590550" y="2624325"/>
            <a:ext cx="6498336" cy="2519363"/>
          </a:xfrm>
        </p:spPr>
        <p:txBody>
          <a:bodyPr>
            <a:normAutofit/>
          </a:bodyPr>
          <a:lstStyle/>
          <a:p>
            <a:pPr marL="0" indent="0">
              <a:buNone/>
            </a:pPr>
            <a:r>
              <a:rPr lang="en-IN" dirty="0"/>
              <a:t>Applied for the patent.</a:t>
            </a:r>
          </a:p>
          <a:p>
            <a:pPr marL="0" indent="0">
              <a:buNone/>
            </a:pPr>
            <a:r>
              <a:rPr lang="en-IN" dirty="0"/>
              <a:t>Link: </a:t>
            </a:r>
            <a:r>
              <a:rPr lang="en-IN" sz="1800" dirty="0"/>
              <a:t>Annexure</a:t>
            </a:r>
            <a:r>
              <a:rPr lang="en-IN" dirty="0"/>
              <a:t>- </a:t>
            </a:r>
            <a:r>
              <a:rPr lang="en-IN" sz="1200" dirty="0">
                <a:solidFill>
                  <a:srgbClr val="0070C0"/>
                </a:solidFill>
                <a:hlinkClick r:id="rId2"/>
              </a:rPr>
              <a:t>https://docs.google.com/document/d/1Utvi7-ksUWMUrBSl8U5BhedsQWbDSiya/edit?usp=sharing&amp;ouid=115762999925761984349&amp;rtpof=true&amp;sd=true</a:t>
            </a:r>
            <a:endParaRPr lang="en-IN" sz="1200" dirty="0">
              <a:solidFill>
                <a:srgbClr val="0070C0"/>
              </a:solidFill>
            </a:endParaRPr>
          </a:p>
          <a:p>
            <a:pPr marL="0" indent="0">
              <a:buNone/>
            </a:pPr>
            <a:r>
              <a:rPr lang="en-IN" sz="1800" dirty="0"/>
              <a:t>IDF Format: </a:t>
            </a:r>
            <a:r>
              <a:rPr lang="en-IN" sz="1200" dirty="0">
                <a:solidFill>
                  <a:srgbClr val="0070C0"/>
                </a:solidFill>
              </a:rPr>
              <a:t>https://docs.google.com/document/d/1dCtQHZNbGWAHv5ACJ7nLhCz7Y1SPNrPo/edit?usp=sharing&amp;ouid=115762999925761984349&amp;rtpof=true&amp;sd=true</a:t>
            </a:r>
            <a:endParaRPr lang="en-IN" dirty="0">
              <a:solidFill>
                <a:srgbClr val="0070C0"/>
              </a:solidFill>
            </a:endParaRPr>
          </a:p>
        </p:txBody>
      </p:sp>
      <p:sp>
        <p:nvSpPr>
          <p:cNvPr id="4" name="Slide Number Placeholder 3">
            <a:extLst>
              <a:ext uri="{FF2B5EF4-FFF2-40B4-BE49-F238E27FC236}">
                <a16:creationId xmlns:a16="http://schemas.microsoft.com/office/drawing/2014/main" id="{D448161B-2D61-4FA3-1B6A-A942EFCC93F0}"/>
              </a:ext>
            </a:extLst>
          </p:cNvPr>
          <p:cNvSpPr>
            <a:spLocks noGrp="1"/>
          </p:cNvSpPr>
          <p:nvPr>
            <p:ph type="sldNum" sz="quarter" idx="12"/>
          </p:nvPr>
        </p:nvSpPr>
        <p:spPr/>
        <p:txBody>
          <a:bodyPr/>
          <a:lstStyle/>
          <a:p>
            <a:fld id="{3F87B148-DC85-4EDB-ACA3-100B1D618A48}" type="slidenum">
              <a:rPr lang="en-IN" smtClean="0"/>
              <a:t>7</a:t>
            </a:fld>
            <a:endParaRPr lang="en-IN"/>
          </a:p>
        </p:txBody>
      </p:sp>
      <p:pic>
        <p:nvPicPr>
          <p:cNvPr id="5" name="Picture 4">
            <a:extLst>
              <a:ext uri="{FF2B5EF4-FFF2-40B4-BE49-F238E27FC236}">
                <a16:creationId xmlns:a16="http://schemas.microsoft.com/office/drawing/2014/main" id="{EC2EE626-41E3-D4FB-DE26-442E728056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1628" y="297266"/>
            <a:ext cx="11119822" cy="1114398"/>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Tree>
    <p:extLst>
      <p:ext uri="{BB962C8B-B14F-4D97-AF65-F5344CB8AC3E}">
        <p14:creationId xmlns:p14="http://schemas.microsoft.com/office/powerpoint/2010/main" val="3047737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23349F-CF9E-17A5-E471-C091975083ED}"/>
              </a:ext>
            </a:extLst>
          </p:cNvPr>
          <p:cNvSpPr>
            <a:spLocks noGrp="1"/>
          </p:cNvSpPr>
          <p:nvPr>
            <p:ph type="title"/>
          </p:nvPr>
        </p:nvSpPr>
        <p:spPr>
          <a:xfrm>
            <a:off x="885659" y="2016599"/>
            <a:ext cx="4150581" cy="1800165"/>
          </a:xfrm>
        </p:spPr>
        <p:txBody>
          <a:bodyPr anchor="t">
            <a:normAutofit/>
          </a:bodyPr>
          <a:lstStyle/>
          <a:p>
            <a:pPr algn="r"/>
            <a:r>
              <a:rPr lang="en-IN" sz="4000" dirty="0"/>
              <a:t>Research Paper Status</a:t>
            </a:r>
          </a:p>
        </p:txBody>
      </p:sp>
      <p:pic>
        <p:nvPicPr>
          <p:cNvPr id="5" name="Picture 4">
            <a:extLst>
              <a:ext uri="{FF2B5EF4-FFF2-40B4-BE49-F238E27FC236}">
                <a16:creationId xmlns:a16="http://schemas.microsoft.com/office/drawing/2014/main" id="{314E54B1-630A-31D1-932A-B4F2F938A8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4542" y="402304"/>
            <a:ext cx="11139778" cy="1141828"/>
          </a:xfrm>
          <a:prstGeom prst="rect">
            <a:avLst/>
          </a:prstGeom>
        </p:spPr>
      </p:pic>
      <p:sp>
        <p:nvSpPr>
          <p:cNvPr id="3" name="Content Placeholder 2">
            <a:extLst>
              <a:ext uri="{FF2B5EF4-FFF2-40B4-BE49-F238E27FC236}">
                <a16:creationId xmlns:a16="http://schemas.microsoft.com/office/drawing/2014/main" id="{565BFEEB-FA9E-5BB0-6DD3-DD04A44AC574}"/>
              </a:ext>
            </a:extLst>
          </p:cNvPr>
          <p:cNvSpPr>
            <a:spLocks noGrp="1"/>
          </p:cNvSpPr>
          <p:nvPr>
            <p:ph idx="1"/>
          </p:nvPr>
        </p:nvSpPr>
        <p:spPr>
          <a:xfrm>
            <a:off x="5274990" y="1998856"/>
            <a:ext cx="6235268" cy="1800164"/>
          </a:xfrm>
        </p:spPr>
        <p:txBody>
          <a:bodyPr anchor="t">
            <a:normAutofit/>
          </a:bodyPr>
          <a:lstStyle/>
          <a:p>
            <a:r>
              <a:rPr lang="en-IN" sz="2000" dirty="0"/>
              <a:t>Proof submission/ publication (Screenshot).</a:t>
            </a:r>
          </a:p>
          <a:p>
            <a:r>
              <a:rPr lang="en-IN" sz="2000" dirty="0"/>
              <a:t>Hyperlink of the paper: </a:t>
            </a:r>
            <a:r>
              <a:rPr lang="en-IN" sz="1600" dirty="0">
                <a:solidFill>
                  <a:srgbClr val="0070C0"/>
                </a:solidFill>
              </a:rPr>
              <a:t>https://docs.google.com/document/d/14qZ718AXJW3rBku23StPE9DgAUn8xSTL/edit?usp=sharing&amp;ouid=115762999925761984349&amp;rtpof=true&amp;sd=true</a:t>
            </a:r>
            <a:endParaRPr lang="en-IN" sz="2000" dirty="0">
              <a:solidFill>
                <a:srgbClr val="0070C0"/>
              </a:solidFill>
            </a:endParaRPr>
          </a:p>
        </p:txBody>
      </p:sp>
      <p:sp>
        <p:nvSpPr>
          <p:cNvPr id="19" name="Rectangle 18">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B78F3FF2-54F3-F6BD-E6A9-4F6B96467980}"/>
              </a:ext>
            </a:extLst>
          </p:cNvPr>
          <p:cNvSpPr>
            <a:spLocks noGrp="1"/>
          </p:cNvSpPr>
          <p:nvPr>
            <p:ph type="sldNum" sz="quarter" idx="12"/>
          </p:nvPr>
        </p:nvSpPr>
        <p:spPr>
          <a:xfrm>
            <a:off x="11704320" y="6451877"/>
            <a:ext cx="448056" cy="365125"/>
          </a:xfrm>
        </p:spPr>
        <p:txBody>
          <a:bodyPr>
            <a:normAutofit/>
          </a:bodyPr>
          <a:lstStyle/>
          <a:p>
            <a:pPr>
              <a:spcAft>
                <a:spcPts val="600"/>
              </a:spcAft>
            </a:pPr>
            <a:fld id="{3F87B148-DC85-4EDB-ACA3-100B1D618A48}" type="slidenum">
              <a:rPr lang="en-IN" sz="1100">
                <a:solidFill>
                  <a:srgbClr val="FFFFFF"/>
                </a:solidFill>
              </a:rPr>
              <a:pPr>
                <a:spcAft>
                  <a:spcPts val="600"/>
                </a:spcAft>
              </a:pPr>
              <a:t>8</a:t>
            </a:fld>
            <a:endParaRPr lang="en-IN" sz="1100">
              <a:solidFill>
                <a:srgbClr val="FFFFFF"/>
              </a:solidFill>
            </a:endParaRPr>
          </a:p>
        </p:txBody>
      </p:sp>
    </p:spTree>
    <p:extLst>
      <p:ext uri="{BB962C8B-B14F-4D97-AF65-F5344CB8AC3E}">
        <p14:creationId xmlns:p14="http://schemas.microsoft.com/office/powerpoint/2010/main" val="124965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9042DA-95B9-0846-B411-D53C06C6A171}"/>
              </a:ext>
            </a:extLst>
          </p:cNvPr>
          <p:cNvSpPr>
            <a:spLocks noGrp="1"/>
          </p:cNvSpPr>
          <p:nvPr>
            <p:ph idx="1"/>
          </p:nvPr>
        </p:nvSpPr>
        <p:spPr>
          <a:xfrm>
            <a:off x="659914" y="2439961"/>
            <a:ext cx="10515600" cy="2141539"/>
          </a:xfrm>
        </p:spPr>
        <p:txBody>
          <a:bodyPr/>
          <a:lstStyle/>
          <a:p>
            <a:pPr marL="0" indent="0">
              <a:buNone/>
            </a:pPr>
            <a:r>
              <a:rPr lang="en-IN" dirty="0">
                <a:solidFill>
                  <a:srgbClr val="0070C0"/>
                </a:solidFill>
              </a:rPr>
              <a:t>https://github.com/Aarohisaxena/Major-Project</a:t>
            </a:r>
          </a:p>
        </p:txBody>
      </p:sp>
      <p:sp>
        <p:nvSpPr>
          <p:cNvPr id="4" name="Slide Number Placeholder 3">
            <a:extLst>
              <a:ext uri="{FF2B5EF4-FFF2-40B4-BE49-F238E27FC236}">
                <a16:creationId xmlns:a16="http://schemas.microsoft.com/office/drawing/2014/main" id="{8050F8CA-C9C5-1ECE-0758-D95CF267D5CB}"/>
              </a:ext>
            </a:extLst>
          </p:cNvPr>
          <p:cNvSpPr>
            <a:spLocks noGrp="1"/>
          </p:cNvSpPr>
          <p:nvPr>
            <p:ph type="sldNum" sz="quarter" idx="12"/>
          </p:nvPr>
        </p:nvSpPr>
        <p:spPr/>
        <p:txBody>
          <a:bodyPr/>
          <a:lstStyle/>
          <a:p>
            <a:fld id="{3F87B148-DC85-4EDB-ACA3-100B1D618A48}" type="slidenum">
              <a:rPr lang="en-IN" smtClean="0"/>
              <a:t>9</a:t>
            </a:fld>
            <a:endParaRPr lang="en-IN"/>
          </a:p>
        </p:txBody>
      </p:sp>
      <p:pic>
        <p:nvPicPr>
          <p:cNvPr id="5" name="Picture 4">
            <a:extLst>
              <a:ext uri="{FF2B5EF4-FFF2-40B4-BE49-F238E27FC236}">
                <a16:creationId xmlns:a16="http://schemas.microsoft.com/office/drawing/2014/main" id="{D3286233-3112-735C-9663-AB1D177639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1628" y="0"/>
            <a:ext cx="10872172" cy="1114398"/>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8" name="Title 1">
            <a:extLst>
              <a:ext uri="{FF2B5EF4-FFF2-40B4-BE49-F238E27FC236}">
                <a16:creationId xmlns:a16="http://schemas.microsoft.com/office/drawing/2014/main" id="{3A0AD8C4-46AF-202F-1151-B2A4DC6910AA}"/>
              </a:ext>
            </a:extLst>
          </p:cNvPr>
          <p:cNvSpPr txBox="1">
            <a:spLocks/>
          </p:cNvSpPr>
          <p:nvPr/>
        </p:nvSpPr>
        <p:spPr>
          <a:xfrm>
            <a:off x="659914" y="11143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Project Status </a:t>
            </a:r>
            <a:r>
              <a:rPr lang="en-IN" sz="1600" b="1" dirty="0"/>
              <a:t>70 percent completed</a:t>
            </a:r>
            <a:endParaRPr lang="en-IN" b="1" dirty="0"/>
          </a:p>
        </p:txBody>
      </p:sp>
    </p:spTree>
    <p:extLst>
      <p:ext uri="{BB962C8B-B14F-4D97-AF65-F5344CB8AC3E}">
        <p14:creationId xmlns:p14="http://schemas.microsoft.com/office/powerpoint/2010/main" val="1681855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9170A-0FBE-5C45-B43F-5165573FA890}"/>
              </a:ext>
            </a:extLst>
          </p:cNvPr>
          <p:cNvSpPr>
            <a:spLocks noGrp="1"/>
          </p:cNvSpPr>
          <p:nvPr>
            <p:ph type="title"/>
          </p:nvPr>
        </p:nvSpPr>
        <p:spPr>
          <a:xfrm>
            <a:off x="838200" y="1458945"/>
            <a:ext cx="10515600" cy="1325563"/>
          </a:xfrm>
        </p:spPr>
        <p:txBody>
          <a:bodyPr/>
          <a:lstStyle/>
          <a:p>
            <a:r>
              <a:rPr lang="en-IN" dirty="0"/>
              <a:t>References	</a:t>
            </a:r>
          </a:p>
        </p:txBody>
      </p:sp>
      <p:sp>
        <p:nvSpPr>
          <p:cNvPr id="3" name="Content Placeholder 2">
            <a:extLst>
              <a:ext uri="{FF2B5EF4-FFF2-40B4-BE49-F238E27FC236}">
                <a16:creationId xmlns:a16="http://schemas.microsoft.com/office/drawing/2014/main" id="{CA81EDF1-E847-732B-B515-11B953BE4975}"/>
              </a:ext>
            </a:extLst>
          </p:cNvPr>
          <p:cNvSpPr>
            <a:spLocks noGrp="1"/>
          </p:cNvSpPr>
          <p:nvPr>
            <p:ph idx="1"/>
          </p:nvPr>
        </p:nvSpPr>
        <p:spPr>
          <a:xfrm>
            <a:off x="838200" y="2486025"/>
            <a:ext cx="10515600" cy="3690937"/>
          </a:xfrm>
        </p:spPr>
        <p:txBody>
          <a:bodyPr>
            <a:normAutofit lnSpcReduction="10000"/>
          </a:bodyPr>
          <a:lstStyle/>
          <a:p>
            <a:pPr marL="342900" lvl="0" indent="-342900">
              <a:lnSpc>
                <a:spcPct val="115000"/>
              </a:lnSpc>
              <a:buFont typeface="+mj-lt"/>
              <a:buAutoNum type="arabicPeriod"/>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Maria Di Summa, Maria Elena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Griseta</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 Nicola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Mosca</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 Cosimo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Patruno</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 Review on Deep Learning Techniques for Railway Infrastructure Monitoring”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15000"/>
              </a:lnSpc>
              <a:buFont typeface="+mj-lt"/>
              <a:buAutoNum type="arabicPeriod"/>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Konstantin Popov, Robert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DeBold</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Hwa Kian Chai, “</a:t>
            </a: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Rail Track Monitoring Using AI and Machine Learning</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 ResearchGate</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15000"/>
              </a:lnSpc>
              <a:buFont typeface="+mj-lt"/>
              <a:buAutoNum type="arabicPeriod"/>
            </a:pP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Sayali</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Bodake</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Dr. S.S. kadam, “Crowd Detection Using Deep Learning” International Research Journal of Engineering and Technology (IRJET) Volume: 08 Issue: 08 | Aug 2021</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15000"/>
              </a:lnSpc>
              <a:buFont typeface="+mj-lt"/>
              <a:buAutoNum type="arabicPeriod"/>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Sergio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Trilles</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Sahibzada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Saadoon</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Hammad,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Ditsuhi</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Iskandaryan</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Anomaly detection based on Artificial Intelligence of Things: A Systematic Literature Mapping</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Internet of Things, Volume 25</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April 2024, 101063</a:t>
            </a:r>
          </a:p>
          <a:p>
            <a:pPr marL="342900" lvl="0" indent="-342900">
              <a:lnSpc>
                <a:spcPct val="115000"/>
              </a:lnSpc>
              <a:spcAft>
                <a:spcPts val="1000"/>
              </a:spcAft>
              <a:buFont typeface="+mj-lt"/>
              <a:buAutoNum type="arabicPeriod"/>
            </a:pP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Deepak T. Mane, Sunil </a:t>
            </a:r>
            <a:r>
              <a:rPr lang="en-IN" sz="1800" dirty="0" err="1">
                <a:effectLst/>
                <a:latin typeface="Calibri" panose="020F0502020204030204" pitchFamily="34" charset="0"/>
                <a:ea typeface="Times New Roman" panose="02020603050405020304" pitchFamily="18" charset="0"/>
                <a:cs typeface="Times New Roman" panose="02020603050405020304" pitchFamily="18" charset="0"/>
              </a:rPr>
              <a:t>Sangave</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Gopal </a:t>
            </a:r>
            <a:r>
              <a:rPr lang="en-IN" sz="1800" dirty="0" err="1">
                <a:effectLst/>
                <a:latin typeface="Calibri" panose="020F0502020204030204" pitchFamily="34" charset="0"/>
                <a:ea typeface="Times New Roman" panose="02020603050405020304" pitchFamily="18" charset="0"/>
                <a:cs typeface="Times New Roman" panose="02020603050405020304" pitchFamily="18" charset="0"/>
              </a:rPr>
              <a:t>Upadhay</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Detection of Anomaly using Machine Learning: A Comprehensive Survey</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ResearchGate, Vol: 10</a:t>
            </a:r>
          </a:p>
          <a:p>
            <a:pPr marL="0" indent="0">
              <a:buNone/>
            </a:pPr>
            <a:endParaRPr lang="en-IN" dirty="0"/>
          </a:p>
        </p:txBody>
      </p:sp>
      <p:sp>
        <p:nvSpPr>
          <p:cNvPr id="4" name="Slide Number Placeholder 3">
            <a:extLst>
              <a:ext uri="{FF2B5EF4-FFF2-40B4-BE49-F238E27FC236}">
                <a16:creationId xmlns:a16="http://schemas.microsoft.com/office/drawing/2014/main" id="{3EAD480E-8B71-75F5-FE30-5283CB4B3ABB}"/>
              </a:ext>
            </a:extLst>
          </p:cNvPr>
          <p:cNvSpPr>
            <a:spLocks noGrp="1"/>
          </p:cNvSpPr>
          <p:nvPr>
            <p:ph type="sldNum" sz="quarter" idx="12"/>
          </p:nvPr>
        </p:nvSpPr>
        <p:spPr/>
        <p:txBody>
          <a:bodyPr/>
          <a:lstStyle/>
          <a:p>
            <a:fld id="{3F87B148-DC85-4EDB-ACA3-100B1D618A48}" type="slidenum">
              <a:rPr lang="en-IN" smtClean="0"/>
              <a:t>10</a:t>
            </a:fld>
            <a:endParaRPr lang="en-IN"/>
          </a:p>
        </p:txBody>
      </p:sp>
      <p:pic>
        <p:nvPicPr>
          <p:cNvPr id="5" name="Picture 4">
            <a:extLst>
              <a:ext uri="{FF2B5EF4-FFF2-40B4-BE49-F238E27FC236}">
                <a16:creationId xmlns:a16="http://schemas.microsoft.com/office/drawing/2014/main" id="{E6746479-8876-CA24-2D39-AB9AAC33C7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8994" y="257175"/>
            <a:ext cx="10872172" cy="1114398"/>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Tree>
    <p:extLst>
      <p:ext uri="{BB962C8B-B14F-4D97-AF65-F5344CB8AC3E}">
        <p14:creationId xmlns:p14="http://schemas.microsoft.com/office/powerpoint/2010/main" val="27368831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308</TotalTime>
  <Words>1077</Words>
  <Application>Microsoft Office PowerPoint</Application>
  <PresentationFormat>Widescreen</PresentationFormat>
  <Paragraphs>87</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Arial</vt:lpstr>
      <vt:lpstr>Bookman Old Style</vt:lpstr>
      <vt:lpstr>Calibri</vt:lpstr>
      <vt:lpstr>Calibri Light</vt:lpstr>
      <vt:lpstr>Century Gothic</vt:lpstr>
      <vt:lpstr>Times New Roman</vt:lpstr>
      <vt:lpstr>Office Theme</vt:lpstr>
      <vt:lpstr>                      DEPARTMENT OF COMPUTER SCIENCE     Project Presentation (BCS 554)  Using existing CCTV network for crowd management, crime prevention, and work monitoring using AI/ML</vt:lpstr>
      <vt:lpstr>Problem Statement</vt:lpstr>
      <vt:lpstr>Objectives</vt:lpstr>
      <vt:lpstr>Technology Used </vt:lpstr>
      <vt:lpstr>Literature Survey </vt:lpstr>
      <vt:lpstr>Diagrams</vt:lpstr>
      <vt:lpstr>Patent Status</vt:lpstr>
      <vt:lpstr>Research Paper Status</vt:lpstr>
      <vt:lpstr>PowerPoint Presentation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 Project Presentation (Title)</dc:title>
  <dc:creator>NEHA SHUKLA</dc:creator>
  <cp:lastModifiedBy>neelimakhushi73@gmail.com</cp:lastModifiedBy>
  <cp:revision>20</cp:revision>
  <dcterms:created xsi:type="dcterms:W3CDTF">2023-09-23T09:10:50Z</dcterms:created>
  <dcterms:modified xsi:type="dcterms:W3CDTF">2025-05-01T11:02:20Z</dcterms:modified>
</cp:coreProperties>
</file>